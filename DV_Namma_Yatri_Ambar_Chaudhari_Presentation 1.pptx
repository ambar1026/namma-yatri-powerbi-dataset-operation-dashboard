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3" r:id="rId7"/>
    <p:sldId id="260" r:id="rId8"/>
    <p:sldId id="264" r:id="rId9"/>
    <p:sldId id="265" r:id="rId10"/>
    <p:sldId id="266" r:id="rId1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30EE72-9005-4B2F-8142-023DE7A720FB}" v="28" dt="2026-04-20T14:37:53.356"/>
    <p1510:client id="{92490072-5430-E225-E5B0-0E308F430B3D}" v="11" dt="2026-04-20T06:22:05.339"/>
    <p1510:client id="{970C482B-698E-41B7-B275-C89C186ECB31}" v="1473" dt="2026-04-21T15:38:25.677"/>
    <p1510:client id="{A236B399-8D1B-4D8E-8090-432FD6D30544}" v="363" dt="2026-04-21T06:10:38.6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21/04/2026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21/04/2026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21/04/2026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8873" y="2045349"/>
            <a:ext cx="9144000" cy="2387600"/>
          </a:xfrm>
        </p:spPr>
        <p:txBody>
          <a:bodyPr>
            <a:normAutofit/>
          </a:bodyPr>
          <a:lstStyle/>
          <a:p>
            <a:r>
              <a:rPr lang="en-GB" sz="7200" dirty="0" err="1">
                <a:solidFill>
                  <a:srgbClr val="F49E20"/>
                </a:solidFill>
                <a:highlight>
                  <a:srgbClr val="FFFFFF"/>
                </a:highlight>
                <a:latin typeface="Aptos Display"/>
                <a:cs typeface="Segoe UI"/>
              </a:rPr>
              <a:t>Namma</a:t>
            </a:r>
            <a:r>
              <a:rPr lang="en-GB" sz="7200" dirty="0">
                <a:solidFill>
                  <a:srgbClr val="F49E20"/>
                </a:solidFill>
                <a:highlight>
                  <a:srgbClr val="FFFFFF"/>
                </a:highlight>
                <a:latin typeface="Aptos Display"/>
                <a:cs typeface="Segoe UI"/>
              </a:rPr>
              <a:t> </a:t>
            </a:r>
            <a:r>
              <a:rPr lang="en-GB" sz="7200" dirty="0">
                <a:solidFill>
                  <a:srgbClr val="269574"/>
                </a:solidFill>
                <a:highlight>
                  <a:srgbClr val="FFFFFF"/>
                </a:highlight>
                <a:latin typeface="Aptos Display"/>
                <a:cs typeface="Segoe UI"/>
              </a:rPr>
              <a:t>Yatri</a:t>
            </a:r>
            <a:endParaRPr lang="en-GB" sz="7200" dirty="0">
              <a:solidFill>
                <a:srgbClr val="000000"/>
              </a:solidFill>
              <a:highlight>
                <a:srgbClr val="FFFFFF"/>
              </a:highlight>
              <a:latin typeface="Aptos Display"/>
              <a:cs typeface="Segoe UI"/>
            </a:endParaRPr>
          </a:p>
          <a:p>
            <a:endParaRPr lang="en-GB" dirty="0">
              <a:solidFill>
                <a:srgbClr val="242424"/>
              </a:solidFill>
              <a:highlight>
                <a:srgbClr val="FFFFFF"/>
              </a:highlight>
              <a:latin typeface="Segoe UI"/>
              <a:cs typeface="Segoe UI"/>
            </a:endParaRPr>
          </a:p>
        </p:txBody>
      </p:sp>
      <p:sp>
        <p:nvSpPr>
          <p:cNvPr id="3" name="Subtitle 2"/>
          <p:cNvSpPr>
            <a:spLocks noGrp="1"/>
          </p:cNvSpPr>
          <p:nvPr>
            <p:ph type="subTitle" idx="1"/>
          </p:nvPr>
        </p:nvSpPr>
        <p:spPr/>
        <p:txBody>
          <a:bodyPr vert="horz" lIns="91440" tIns="45720" rIns="91440" bIns="45720" rtlCol="0" anchor="t">
            <a:normAutofit/>
          </a:bodyPr>
          <a:lstStyle/>
          <a:p>
            <a:r>
              <a:rPr lang="en-GB" sz="3200"/>
              <a:t>Technical Strategy </a:t>
            </a:r>
          </a:p>
        </p:txBody>
      </p:sp>
      <p:sp>
        <p:nvSpPr>
          <p:cNvPr id="4" name="TextBox 3">
            <a:extLst>
              <a:ext uri="{FF2B5EF4-FFF2-40B4-BE49-F238E27FC236}">
                <a16:creationId xmlns:a16="http://schemas.microsoft.com/office/drawing/2014/main" id="{059DDAAA-A0D7-64E6-6CA2-E29F04E23D30}"/>
              </a:ext>
            </a:extLst>
          </p:cNvPr>
          <p:cNvSpPr txBox="1"/>
          <p:nvPr/>
        </p:nvSpPr>
        <p:spPr>
          <a:xfrm>
            <a:off x="504422" y="5977943"/>
            <a:ext cx="407401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Presentation by Ambar Chaudhari</a:t>
            </a:r>
          </a:p>
          <a:p>
            <a:pPr algn="l"/>
            <a:endParaRPr lang="en-GB"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7105AD-72FC-3235-F3CF-C14CD7FFB7DF}"/>
              </a:ext>
            </a:extLst>
          </p:cNvPr>
          <p:cNvSpPr>
            <a:spLocks noGrp="1"/>
          </p:cNvSpPr>
          <p:nvPr>
            <p:ph idx="1"/>
          </p:nvPr>
        </p:nvSpPr>
        <p:spPr/>
        <p:txBody>
          <a:bodyPr vert="horz" lIns="91440" tIns="45720" rIns="91440" bIns="45720" rtlCol="0" anchor="t">
            <a:normAutofit/>
          </a:bodyPr>
          <a:lstStyle/>
          <a:p>
            <a:endParaRPr lang="en-IN" dirty="0"/>
          </a:p>
          <a:p>
            <a:pPr marL="0" indent="0">
              <a:buNone/>
            </a:pPr>
            <a:endParaRPr lang="en-IN" dirty="0"/>
          </a:p>
          <a:p>
            <a:endParaRPr lang="en-IN" dirty="0"/>
          </a:p>
        </p:txBody>
      </p:sp>
      <p:sp>
        <p:nvSpPr>
          <p:cNvPr id="4" name="TextBox 3">
            <a:extLst>
              <a:ext uri="{FF2B5EF4-FFF2-40B4-BE49-F238E27FC236}">
                <a16:creationId xmlns:a16="http://schemas.microsoft.com/office/drawing/2014/main" id="{C350D9BB-6ECF-BBC4-BE30-78A6D667381A}"/>
              </a:ext>
            </a:extLst>
          </p:cNvPr>
          <p:cNvSpPr txBox="1"/>
          <p:nvPr/>
        </p:nvSpPr>
        <p:spPr>
          <a:xfrm>
            <a:off x="1867436" y="1465116"/>
            <a:ext cx="8124422" cy="55707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600">
                <a:latin typeface="Aptos"/>
              </a:rPr>
              <a:t>Technical guide for </a:t>
            </a:r>
          </a:p>
          <a:p>
            <a:pPr algn="ctr"/>
            <a:endParaRPr lang="en-GB" sz="3200" dirty="0">
              <a:latin typeface="Aptos"/>
            </a:endParaRPr>
          </a:p>
          <a:p>
            <a:pPr marL="514350" indent="-514350" algn="ctr">
              <a:buAutoNum type="arabicPeriod"/>
            </a:pPr>
            <a:r>
              <a:rPr lang="en-IN" sz="3200">
                <a:latin typeface="Aptos Display"/>
              </a:rPr>
              <a:t>Operational efficiency </a:t>
            </a:r>
            <a:endParaRPr lang="en-US" sz="3200">
              <a:latin typeface="Aptos" panose="020B0004020202020204"/>
            </a:endParaRPr>
          </a:p>
          <a:p>
            <a:pPr marL="514350" indent="-514350" algn="ctr">
              <a:buAutoNum type="arabicPeriod"/>
            </a:pPr>
            <a:r>
              <a:rPr lang="en-IN" sz="3200" dirty="0">
                <a:latin typeface="Aptos Display"/>
              </a:rPr>
              <a:t>Proper </a:t>
            </a:r>
            <a:r>
              <a:rPr lang="en-IN" sz="3200">
                <a:latin typeface="Aptos Display"/>
              </a:rPr>
              <a:t>recourses</a:t>
            </a:r>
            <a:r>
              <a:rPr lang="en-IN" sz="3200" dirty="0">
                <a:latin typeface="Aptos Display"/>
              </a:rPr>
              <a:t> allocation</a:t>
            </a:r>
          </a:p>
          <a:p>
            <a:pPr marL="514350" indent="-514350" algn="ctr">
              <a:buAutoNum type="arabicPeriod"/>
            </a:pPr>
            <a:r>
              <a:rPr lang="en-IN" sz="3200">
                <a:latin typeface="Aptos Display"/>
              </a:rPr>
              <a:t>Improve customer satisfaction</a:t>
            </a:r>
            <a:endParaRPr lang="en-US" sz="3200">
              <a:latin typeface="Aptos" panose="020B0004020202020204"/>
            </a:endParaRPr>
          </a:p>
          <a:p>
            <a:pPr algn="ctr"/>
            <a:endParaRPr lang="en-IN" sz="3200" dirty="0">
              <a:latin typeface="Aptos Display"/>
            </a:endParaRPr>
          </a:p>
          <a:p>
            <a:pPr algn="ctr"/>
            <a:r>
              <a:rPr lang="en-IN" sz="3200" dirty="0">
                <a:latin typeface="Aptos Display"/>
              </a:rPr>
              <a:t>For </a:t>
            </a:r>
            <a:r>
              <a:rPr lang="en-IN" sz="3200" dirty="0" err="1">
                <a:latin typeface="Aptos Display"/>
              </a:rPr>
              <a:t>Namma</a:t>
            </a:r>
            <a:r>
              <a:rPr lang="en-IN" sz="3200" dirty="0">
                <a:latin typeface="Aptos Display"/>
              </a:rPr>
              <a:t> Yatri services </a:t>
            </a:r>
          </a:p>
          <a:p>
            <a:pPr algn="ctr"/>
            <a:endParaRPr lang="en-IN" sz="3200" dirty="0">
              <a:latin typeface="Aptos Display"/>
            </a:endParaRPr>
          </a:p>
          <a:p>
            <a:pPr algn="ctr"/>
            <a:endParaRPr lang="en-IN" sz="3200" dirty="0">
              <a:latin typeface="Aptos Display"/>
            </a:endParaRPr>
          </a:p>
          <a:p>
            <a:pPr algn="ctr"/>
            <a:endParaRPr lang="en-US" sz="3200"/>
          </a:p>
          <a:p>
            <a:pPr algn="ctr"/>
            <a:endParaRPr lang="en-US" sz="3200" dirty="0"/>
          </a:p>
        </p:txBody>
      </p:sp>
      <p:sp>
        <p:nvSpPr>
          <p:cNvPr id="5" name="Rectangle 4">
            <a:extLst>
              <a:ext uri="{FF2B5EF4-FFF2-40B4-BE49-F238E27FC236}">
                <a16:creationId xmlns:a16="http://schemas.microsoft.com/office/drawing/2014/main" id="{98E6131D-9A7F-DFAC-3F0B-E96A92A31E36}"/>
              </a:ext>
            </a:extLst>
          </p:cNvPr>
          <p:cNvSpPr/>
          <p:nvPr/>
        </p:nvSpPr>
        <p:spPr>
          <a:xfrm>
            <a:off x="487680" y="274320"/>
            <a:ext cx="11226800" cy="894080"/>
          </a:xfrm>
          <a:prstGeom prst="rect">
            <a:avLst/>
          </a:prstGeom>
          <a:solidFill>
            <a:srgbClr val="FFC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6" name="Rectangle 5">
            <a:extLst>
              <a:ext uri="{FF2B5EF4-FFF2-40B4-BE49-F238E27FC236}">
                <a16:creationId xmlns:a16="http://schemas.microsoft.com/office/drawing/2014/main" id="{DAF2605D-0701-2C14-BACD-951202201FB6}"/>
              </a:ext>
            </a:extLst>
          </p:cNvPr>
          <p:cNvSpPr/>
          <p:nvPr/>
        </p:nvSpPr>
        <p:spPr>
          <a:xfrm>
            <a:off x="11846560" y="274320"/>
            <a:ext cx="345440" cy="894080"/>
          </a:xfrm>
          <a:prstGeom prst="rect">
            <a:avLst/>
          </a:prstGeom>
          <a:solidFill>
            <a:srgbClr val="269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7" name="Title 1">
            <a:extLst>
              <a:ext uri="{FF2B5EF4-FFF2-40B4-BE49-F238E27FC236}">
                <a16:creationId xmlns:a16="http://schemas.microsoft.com/office/drawing/2014/main" id="{FE24F413-D2C4-8084-D597-8DA3246631F3}"/>
              </a:ext>
            </a:extLst>
          </p:cNvPr>
          <p:cNvSpPr txBox="1">
            <a:spLocks/>
          </p:cNvSpPr>
          <p:nvPr/>
        </p:nvSpPr>
        <p:spPr>
          <a:xfrm>
            <a:off x="167640" y="273685"/>
            <a:ext cx="11531600" cy="896365"/>
          </a:xfrm>
          <a:prstGeom prst="rect">
            <a:avLst/>
          </a:prstGeom>
        </p:spPr>
        <p:txBody>
          <a:bodyPr vert="horz" lIns="91440" tIns="45720" rIns="91440" bIns="45720" rtlCol="0" anchor="ctr">
            <a:normAutofit/>
          </a:bodyPr>
          <a:lstStyle>
            <a:defPPr>
              <a:defRPr lang="en-GB"/>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t>Objective </a:t>
            </a:r>
            <a:endParaRPr lang="en-US"/>
          </a:p>
        </p:txBody>
      </p:sp>
      <p:sp>
        <p:nvSpPr>
          <p:cNvPr id="8" name="Rectangle 7">
            <a:extLst>
              <a:ext uri="{FF2B5EF4-FFF2-40B4-BE49-F238E27FC236}">
                <a16:creationId xmlns:a16="http://schemas.microsoft.com/office/drawing/2014/main" id="{87B54D98-0203-D94D-7114-5FF6D064092F}"/>
              </a:ext>
            </a:extLst>
          </p:cNvPr>
          <p:cNvSpPr/>
          <p:nvPr/>
        </p:nvSpPr>
        <p:spPr>
          <a:xfrm>
            <a:off x="-1" y="274320"/>
            <a:ext cx="345440" cy="894080"/>
          </a:xfrm>
          <a:prstGeom prst="rect">
            <a:avLst/>
          </a:prstGeom>
          <a:solidFill>
            <a:srgbClr val="269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Tree>
    <p:extLst>
      <p:ext uri="{BB962C8B-B14F-4D97-AF65-F5344CB8AC3E}">
        <p14:creationId xmlns:p14="http://schemas.microsoft.com/office/powerpoint/2010/main" val="1264924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1B11C4-3746-45B7-8A05-0361F40F7FB6}"/>
              </a:ext>
            </a:extLst>
          </p:cNvPr>
          <p:cNvSpPr>
            <a:spLocks noGrp="1"/>
          </p:cNvSpPr>
          <p:nvPr>
            <p:ph idx="1"/>
          </p:nvPr>
        </p:nvSpPr>
        <p:spPr>
          <a:xfrm>
            <a:off x="584200" y="1713865"/>
            <a:ext cx="11135360" cy="4351338"/>
          </a:xfrm>
        </p:spPr>
        <p:txBody>
          <a:bodyPr vert="horz" lIns="91440" tIns="45720" rIns="91440" bIns="45720" rtlCol="0" anchor="t">
            <a:normAutofit/>
          </a:bodyPr>
          <a:lstStyle/>
          <a:p>
            <a:r>
              <a:rPr lang="en-IN" dirty="0"/>
              <a:t>Good operation efficiency reduce cost and improve </a:t>
            </a:r>
            <a:r>
              <a:rPr lang="en-IN"/>
              <a:t>customer satisfaction</a:t>
            </a:r>
            <a:r>
              <a:rPr lang="en-IN" dirty="0"/>
              <a:t> </a:t>
            </a:r>
            <a:endParaRPr lang="en-US" dirty="0"/>
          </a:p>
          <a:p>
            <a:r>
              <a:rPr lang="en-IN" dirty="0"/>
              <a:t>We must allocate our resources like taxi, auto and driver effectively so it will reduce waiting time and reduce cancellation from customer.</a:t>
            </a:r>
            <a:endParaRPr lang="en-US" dirty="0"/>
          </a:p>
          <a:p>
            <a:r>
              <a:rPr lang="en-IN" dirty="0"/>
              <a:t>Every customer must get estimate and quote if he did not get it </a:t>
            </a:r>
            <a:r>
              <a:rPr lang="en-IN" dirty="0" err="1"/>
              <a:t>hewill</a:t>
            </a:r>
            <a:r>
              <a:rPr lang="en-IN" dirty="0"/>
              <a:t> not be able to continue further.</a:t>
            </a:r>
            <a:endParaRPr lang="en-GB" dirty="0"/>
          </a:p>
          <a:p>
            <a:endParaRPr lang="en-IN" dirty="0"/>
          </a:p>
          <a:p>
            <a:endParaRPr lang="en-GB" dirty="0"/>
          </a:p>
        </p:txBody>
      </p:sp>
      <p:sp>
        <p:nvSpPr>
          <p:cNvPr id="4" name="Rectangle 3">
            <a:extLst>
              <a:ext uri="{FF2B5EF4-FFF2-40B4-BE49-F238E27FC236}">
                <a16:creationId xmlns:a16="http://schemas.microsoft.com/office/drawing/2014/main" id="{7EC4510D-F517-EBDD-2140-70BD503F4E84}"/>
              </a:ext>
            </a:extLst>
          </p:cNvPr>
          <p:cNvSpPr/>
          <p:nvPr/>
        </p:nvSpPr>
        <p:spPr>
          <a:xfrm>
            <a:off x="-20320" y="274320"/>
            <a:ext cx="11734800" cy="894080"/>
          </a:xfrm>
          <a:prstGeom prst="rect">
            <a:avLst/>
          </a:prstGeom>
          <a:solidFill>
            <a:srgbClr val="FFC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5" name="Rectangle 4">
            <a:extLst>
              <a:ext uri="{FF2B5EF4-FFF2-40B4-BE49-F238E27FC236}">
                <a16:creationId xmlns:a16="http://schemas.microsoft.com/office/drawing/2014/main" id="{B3BA2C8F-5337-C26C-01DD-EA0D97B0B918}"/>
              </a:ext>
            </a:extLst>
          </p:cNvPr>
          <p:cNvSpPr/>
          <p:nvPr/>
        </p:nvSpPr>
        <p:spPr>
          <a:xfrm>
            <a:off x="11846560" y="274320"/>
            <a:ext cx="345440" cy="894080"/>
          </a:xfrm>
          <a:prstGeom prst="rect">
            <a:avLst/>
          </a:prstGeom>
          <a:solidFill>
            <a:srgbClr val="269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6" name="Title 1">
            <a:extLst>
              <a:ext uri="{FF2B5EF4-FFF2-40B4-BE49-F238E27FC236}">
                <a16:creationId xmlns:a16="http://schemas.microsoft.com/office/drawing/2014/main" id="{8F58BF90-9909-E9AA-E543-07FE96384D63}"/>
              </a:ext>
            </a:extLst>
          </p:cNvPr>
          <p:cNvSpPr>
            <a:spLocks noGrp="1"/>
          </p:cNvSpPr>
          <p:nvPr/>
        </p:nvSpPr>
        <p:spPr>
          <a:xfrm>
            <a:off x="167640" y="273685"/>
            <a:ext cx="10515600" cy="9166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Introduction</a:t>
            </a:r>
            <a:endParaRPr lang="en-US"/>
          </a:p>
        </p:txBody>
      </p:sp>
    </p:spTree>
    <p:extLst>
      <p:ext uri="{BB962C8B-B14F-4D97-AF65-F5344CB8AC3E}">
        <p14:creationId xmlns:p14="http://schemas.microsoft.com/office/powerpoint/2010/main" val="1116509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BC6ADE-D9BF-EBB3-1371-CBD31B7B1918}"/>
              </a:ext>
            </a:extLst>
          </p:cNvPr>
          <p:cNvSpPr>
            <a:spLocks noGrp="1"/>
          </p:cNvSpPr>
          <p:nvPr>
            <p:ph idx="1"/>
          </p:nvPr>
        </p:nvSpPr>
        <p:spPr/>
        <p:txBody>
          <a:bodyPr vert="horz" lIns="91440" tIns="45720" rIns="91440" bIns="45720" rtlCol="0" anchor="t">
            <a:normAutofit/>
          </a:bodyPr>
          <a:lstStyle/>
          <a:p>
            <a:r>
              <a:rPr lang="en-GB" dirty="0"/>
              <a:t>We have lost 18.65% of rides because </a:t>
            </a:r>
            <a:r>
              <a:rPr lang="en-GB"/>
              <a:t>customer did not get  the estimate</a:t>
            </a:r>
          </a:p>
          <a:p>
            <a:r>
              <a:rPr lang="en-GB" dirty="0"/>
              <a:t>Out of which only 82.76% customer searched fo</a:t>
            </a:r>
            <a:r>
              <a:rPr lang="en-GB"/>
              <a:t>r quotes.</a:t>
            </a:r>
          </a:p>
          <a:p>
            <a:r>
              <a:rPr lang="en-GB"/>
              <a:t>After that we lost 12.23% of customer  they did not get quotes.</a:t>
            </a:r>
          </a:p>
          <a:p>
            <a:r>
              <a:rPr lang="en-GB" dirty="0"/>
              <a:t>Then we have 12.29% cancelation by cust</a:t>
            </a:r>
            <a:r>
              <a:rPr lang="en-GB"/>
              <a:t>omers.</a:t>
            </a:r>
          </a:p>
          <a:p>
            <a:r>
              <a:rPr lang="en-GB" dirty="0"/>
              <a:t>Reducing </a:t>
            </a:r>
            <a:r>
              <a:rPr lang="en-GB" dirty="0" err="1"/>
              <a:t>our</a:t>
            </a:r>
            <a:r>
              <a:rPr lang="en-GB" dirty="0"/>
              <a:t> average </a:t>
            </a:r>
            <a:r>
              <a:rPr lang="en-GB" dirty="0" err="1"/>
              <a:t>conver</a:t>
            </a:r>
            <a:r>
              <a:rPr lang="en-GB"/>
              <a:t>sation rate to 45.49%</a:t>
            </a:r>
            <a:endParaRPr lang="en-GB" dirty="0"/>
          </a:p>
        </p:txBody>
      </p:sp>
      <p:sp>
        <p:nvSpPr>
          <p:cNvPr id="6" name="Rectangle 5">
            <a:extLst>
              <a:ext uri="{FF2B5EF4-FFF2-40B4-BE49-F238E27FC236}">
                <a16:creationId xmlns:a16="http://schemas.microsoft.com/office/drawing/2014/main" id="{FC59DB01-519B-C9BB-0282-7550BA4BE950}"/>
              </a:ext>
            </a:extLst>
          </p:cNvPr>
          <p:cNvSpPr/>
          <p:nvPr/>
        </p:nvSpPr>
        <p:spPr>
          <a:xfrm>
            <a:off x="-20320" y="274320"/>
            <a:ext cx="11734800" cy="894080"/>
          </a:xfrm>
          <a:prstGeom prst="rect">
            <a:avLst/>
          </a:prstGeom>
          <a:solidFill>
            <a:srgbClr val="FFC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8" name="Rectangle 7">
            <a:extLst>
              <a:ext uri="{FF2B5EF4-FFF2-40B4-BE49-F238E27FC236}">
                <a16:creationId xmlns:a16="http://schemas.microsoft.com/office/drawing/2014/main" id="{DDE4CEE3-1D20-915C-E069-1CE1028320FA}"/>
              </a:ext>
            </a:extLst>
          </p:cNvPr>
          <p:cNvSpPr/>
          <p:nvPr/>
        </p:nvSpPr>
        <p:spPr>
          <a:xfrm>
            <a:off x="11846560" y="274320"/>
            <a:ext cx="345440" cy="894080"/>
          </a:xfrm>
          <a:prstGeom prst="rect">
            <a:avLst/>
          </a:prstGeom>
          <a:solidFill>
            <a:srgbClr val="269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0" name="Title 1">
            <a:extLst>
              <a:ext uri="{FF2B5EF4-FFF2-40B4-BE49-F238E27FC236}">
                <a16:creationId xmlns:a16="http://schemas.microsoft.com/office/drawing/2014/main" id="{E85D8F76-E963-29FB-4F08-E08B98BC4A7C}"/>
              </a:ext>
            </a:extLst>
          </p:cNvPr>
          <p:cNvSpPr>
            <a:spLocks noGrp="1"/>
          </p:cNvSpPr>
          <p:nvPr/>
        </p:nvSpPr>
        <p:spPr>
          <a:xfrm>
            <a:off x="167640" y="273685"/>
            <a:ext cx="10515600" cy="9166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Operational issues</a:t>
            </a:r>
          </a:p>
        </p:txBody>
      </p:sp>
    </p:spTree>
    <p:extLst>
      <p:ext uri="{BB962C8B-B14F-4D97-AF65-F5344CB8AC3E}">
        <p14:creationId xmlns:p14="http://schemas.microsoft.com/office/powerpoint/2010/main" val="111151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91F63F-7CCC-3184-8417-D210A6F89E98}"/>
              </a:ext>
            </a:extLst>
          </p:cNvPr>
          <p:cNvSpPr>
            <a:spLocks noGrp="1"/>
          </p:cNvSpPr>
          <p:nvPr>
            <p:ph idx="1"/>
          </p:nvPr>
        </p:nvSpPr>
        <p:spPr>
          <a:xfrm>
            <a:off x="591065" y="1403436"/>
            <a:ext cx="11123140" cy="4979472"/>
          </a:xfrm>
        </p:spPr>
        <p:txBody>
          <a:bodyPr vert="horz" lIns="91440" tIns="45720" rIns="91440" bIns="45720" rtlCol="0" anchor="t">
            <a:normAutofit/>
          </a:bodyPr>
          <a:lstStyle/>
          <a:p>
            <a:r>
              <a:rPr lang="en-GB" dirty="0"/>
              <a:t>Make </a:t>
            </a:r>
            <a:r>
              <a:rPr lang="en-GB" dirty="0" err="1"/>
              <a:t>an</a:t>
            </a:r>
            <a:r>
              <a:rPr lang="en-GB" dirty="0"/>
              <a:t> robust system calculate the estimation of route quickly taking in consideration factors like distance between source and destination, traffic in that route, estimated time needed to reach that location and toll </a:t>
            </a:r>
          </a:p>
          <a:p>
            <a:r>
              <a:rPr lang="en-GB"/>
              <a:t>Calculate using following formula</a:t>
            </a:r>
            <a:endParaRPr lang="en-GB" dirty="0"/>
          </a:p>
          <a:p>
            <a:r>
              <a:rPr lang="en-GB" dirty="0"/>
              <a:t>Formula for wa</a:t>
            </a:r>
            <a:r>
              <a:rPr lang="en-GB"/>
              <a:t>iting charge is</a:t>
            </a:r>
            <a:endParaRPr lang="en-GB" dirty="0"/>
          </a:p>
          <a:p>
            <a:pPr marL="0" indent="0">
              <a:buNone/>
            </a:pPr>
            <a:r>
              <a:rPr lang="en-GB" sz="2400" b="1"/>
              <a:t>Estimated waiting charge = (Estimated time including traffic -(Distance/Average speed) )  * waiting charge</a:t>
            </a:r>
            <a:endParaRPr lang="en-GB" sz="2400" b="1" dirty="0"/>
          </a:p>
          <a:p>
            <a:r>
              <a:rPr lang="en-GB"/>
              <a:t>Formula for estimated price is</a:t>
            </a:r>
            <a:endParaRPr lang="en-GB" dirty="0"/>
          </a:p>
          <a:p>
            <a:pPr marL="0" indent="0">
              <a:buNone/>
            </a:pPr>
            <a:r>
              <a:rPr lang="en-GB" sz="2400" b="1"/>
              <a:t>Estimated price = Fixed price + (Distance in Km * Price per Km) + Estimated waiting charge + toll +night charge</a:t>
            </a:r>
            <a:endParaRPr lang="en-GB" sz="2400" b="1" dirty="0"/>
          </a:p>
          <a:p>
            <a:endParaRPr lang="en-GB" sz="2400" b="1" dirty="0"/>
          </a:p>
          <a:p>
            <a:pPr marL="0" indent="0">
              <a:buNone/>
            </a:pPr>
            <a:endParaRPr lang="en-GB" dirty="0"/>
          </a:p>
        </p:txBody>
      </p:sp>
      <p:sp>
        <p:nvSpPr>
          <p:cNvPr id="5" name="Rectangle 4">
            <a:extLst>
              <a:ext uri="{FF2B5EF4-FFF2-40B4-BE49-F238E27FC236}">
                <a16:creationId xmlns:a16="http://schemas.microsoft.com/office/drawing/2014/main" id="{902B010B-D087-6B28-671F-2E4AB699AEC6}"/>
              </a:ext>
            </a:extLst>
          </p:cNvPr>
          <p:cNvSpPr/>
          <p:nvPr/>
        </p:nvSpPr>
        <p:spPr>
          <a:xfrm>
            <a:off x="-20320" y="274320"/>
            <a:ext cx="11734800" cy="894080"/>
          </a:xfrm>
          <a:prstGeom prst="rect">
            <a:avLst/>
          </a:prstGeom>
          <a:solidFill>
            <a:srgbClr val="FFC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7" name="Rectangle 6">
            <a:extLst>
              <a:ext uri="{FF2B5EF4-FFF2-40B4-BE49-F238E27FC236}">
                <a16:creationId xmlns:a16="http://schemas.microsoft.com/office/drawing/2014/main" id="{05E75801-1910-CE2D-C3A0-263DCF23C884}"/>
              </a:ext>
            </a:extLst>
          </p:cNvPr>
          <p:cNvSpPr/>
          <p:nvPr/>
        </p:nvSpPr>
        <p:spPr>
          <a:xfrm>
            <a:off x="11846560" y="274320"/>
            <a:ext cx="345440" cy="894080"/>
          </a:xfrm>
          <a:prstGeom prst="rect">
            <a:avLst/>
          </a:prstGeom>
          <a:solidFill>
            <a:srgbClr val="269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9" name="Title 1">
            <a:extLst>
              <a:ext uri="{FF2B5EF4-FFF2-40B4-BE49-F238E27FC236}">
                <a16:creationId xmlns:a16="http://schemas.microsoft.com/office/drawing/2014/main" id="{1DAB4A9C-2AF5-A362-D1BB-42E49023FAFD}"/>
              </a:ext>
            </a:extLst>
          </p:cNvPr>
          <p:cNvSpPr>
            <a:spLocks noGrp="1"/>
          </p:cNvSpPr>
          <p:nvPr/>
        </p:nvSpPr>
        <p:spPr>
          <a:xfrm>
            <a:off x="167640" y="273685"/>
            <a:ext cx="10515600" cy="9166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Estimated price calculation</a:t>
            </a:r>
          </a:p>
        </p:txBody>
      </p:sp>
    </p:spTree>
    <p:extLst>
      <p:ext uri="{BB962C8B-B14F-4D97-AF65-F5344CB8AC3E}">
        <p14:creationId xmlns:p14="http://schemas.microsoft.com/office/powerpoint/2010/main" val="3140427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F7B3CE-3EC4-61E5-492A-39CD9A471439}"/>
              </a:ext>
            </a:extLst>
          </p:cNvPr>
          <p:cNvSpPr>
            <a:spLocks noGrp="1"/>
          </p:cNvSpPr>
          <p:nvPr>
            <p:ph idx="1"/>
          </p:nvPr>
        </p:nvSpPr>
        <p:spPr>
          <a:xfrm>
            <a:off x="838200" y="2711193"/>
            <a:ext cx="10515600" cy="3352500"/>
          </a:xfrm>
        </p:spPr>
        <p:txBody>
          <a:bodyPr vert="horz" lIns="91440" tIns="45720" rIns="91440" bIns="45720" rtlCol="0" anchor="t">
            <a:normAutofit/>
          </a:bodyPr>
          <a:lstStyle/>
          <a:p>
            <a:pPr marL="0" indent="0">
              <a:buNone/>
            </a:pPr>
            <a:r>
              <a:rPr lang="en-GB"/>
              <a:t>Why  customer not getting quotation ?</a:t>
            </a:r>
            <a:endParaRPr lang="en-US"/>
          </a:p>
          <a:p>
            <a:pPr marL="514350" indent="-514350">
              <a:buAutoNum type="arabicPeriod"/>
            </a:pPr>
            <a:r>
              <a:rPr lang="en-GB" dirty="0"/>
              <a:t>Drivers might be unavailable in that that </a:t>
            </a:r>
            <a:r>
              <a:rPr lang="en-GB"/>
              <a:t>location,</a:t>
            </a:r>
          </a:p>
          <a:p>
            <a:pPr marL="514350" indent="-514350">
              <a:buAutoNum type="arabicPeriod"/>
            </a:pPr>
            <a:r>
              <a:rPr lang="en-GB" dirty="0"/>
              <a:t> Cabs are operating away from that route.</a:t>
            </a:r>
          </a:p>
          <a:p>
            <a:pPr marL="514350" indent="-514350">
              <a:buAutoNum type="arabicPeriod"/>
            </a:pPr>
            <a:r>
              <a:rPr lang="en-GB"/>
              <a:t>Check for technical glitches.</a:t>
            </a:r>
          </a:p>
          <a:p>
            <a:pPr marL="514350" indent="-514350">
              <a:buAutoNum type="arabicPeriod"/>
            </a:pPr>
            <a:endParaRPr lang="en-GB" dirty="0"/>
          </a:p>
          <a:p>
            <a:pPr marL="0" indent="0">
              <a:buNone/>
            </a:pPr>
            <a:r>
              <a:rPr lang="en-GB" dirty="0"/>
              <a:t>We must solve above issue as soon as possible as it </a:t>
            </a:r>
            <a:r>
              <a:rPr lang="en-GB"/>
              <a:t>affect</a:t>
            </a:r>
            <a:r>
              <a:rPr lang="en-GB" dirty="0"/>
              <a:t> revenue.</a:t>
            </a:r>
          </a:p>
        </p:txBody>
      </p:sp>
      <p:sp>
        <p:nvSpPr>
          <p:cNvPr id="5" name="Rectangle 4">
            <a:extLst>
              <a:ext uri="{FF2B5EF4-FFF2-40B4-BE49-F238E27FC236}">
                <a16:creationId xmlns:a16="http://schemas.microsoft.com/office/drawing/2014/main" id="{B69D5881-1324-E576-D2E2-CA8B5ED44DA4}"/>
              </a:ext>
            </a:extLst>
          </p:cNvPr>
          <p:cNvSpPr/>
          <p:nvPr/>
        </p:nvSpPr>
        <p:spPr>
          <a:xfrm>
            <a:off x="-20320" y="274320"/>
            <a:ext cx="11734800" cy="894080"/>
          </a:xfrm>
          <a:prstGeom prst="rect">
            <a:avLst/>
          </a:prstGeom>
          <a:solidFill>
            <a:srgbClr val="FFC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7" name="Rectangle 6">
            <a:extLst>
              <a:ext uri="{FF2B5EF4-FFF2-40B4-BE49-F238E27FC236}">
                <a16:creationId xmlns:a16="http://schemas.microsoft.com/office/drawing/2014/main" id="{F41F6503-C5C5-2C6A-745A-F07B0F41B657}"/>
              </a:ext>
            </a:extLst>
          </p:cNvPr>
          <p:cNvSpPr/>
          <p:nvPr/>
        </p:nvSpPr>
        <p:spPr>
          <a:xfrm>
            <a:off x="11846560" y="274320"/>
            <a:ext cx="345440" cy="894080"/>
          </a:xfrm>
          <a:prstGeom prst="rect">
            <a:avLst/>
          </a:prstGeom>
          <a:solidFill>
            <a:srgbClr val="269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9" name="Title 1">
            <a:extLst>
              <a:ext uri="{FF2B5EF4-FFF2-40B4-BE49-F238E27FC236}">
                <a16:creationId xmlns:a16="http://schemas.microsoft.com/office/drawing/2014/main" id="{86C377AB-0EE1-1CBC-A4B0-A6BA5D42FC48}"/>
              </a:ext>
            </a:extLst>
          </p:cNvPr>
          <p:cNvSpPr>
            <a:spLocks noGrp="1"/>
          </p:cNvSpPr>
          <p:nvPr/>
        </p:nvSpPr>
        <p:spPr>
          <a:xfrm>
            <a:off x="167640" y="273685"/>
            <a:ext cx="10515600" cy="9166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Quote issue</a:t>
            </a:r>
          </a:p>
        </p:txBody>
      </p:sp>
      <p:sp>
        <p:nvSpPr>
          <p:cNvPr id="10" name="TextBox 9">
            <a:extLst>
              <a:ext uri="{FF2B5EF4-FFF2-40B4-BE49-F238E27FC236}">
                <a16:creationId xmlns:a16="http://schemas.microsoft.com/office/drawing/2014/main" id="{CACE3F30-CC44-D220-76BA-D640BBE3BD0A}"/>
              </a:ext>
            </a:extLst>
          </p:cNvPr>
          <p:cNvSpPr txBox="1"/>
          <p:nvPr/>
        </p:nvSpPr>
        <p:spPr>
          <a:xfrm>
            <a:off x="840603" y="1712783"/>
            <a:ext cx="7716793"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b="1">
                <a:latin typeface="Calibri"/>
                <a:ea typeface="Calibri"/>
                <a:cs typeface="Calibri"/>
              </a:rPr>
              <a:t>12% of customer did not got quote</a:t>
            </a:r>
          </a:p>
          <a:p>
            <a:pPr algn="l"/>
            <a:endParaRPr lang="en-GB" dirty="0"/>
          </a:p>
        </p:txBody>
      </p:sp>
    </p:spTree>
    <p:extLst>
      <p:ext uri="{BB962C8B-B14F-4D97-AF65-F5344CB8AC3E}">
        <p14:creationId xmlns:p14="http://schemas.microsoft.com/office/powerpoint/2010/main" val="2209606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366B3D-6C53-4B22-DCFE-6E28BF155D1B}"/>
              </a:ext>
            </a:extLst>
          </p:cNvPr>
          <p:cNvSpPr>
            <a:spLocks noGrp="1"/>
          </p:cNvSpPr>
          <p:nvPr>
            <p:ph idx="1"/>
          </p:nvPr>
        </p:nvSpPr>
        <p:spPr>
          <a:xfrm>
            <a:off x="838200" y="1782696"/>
            <a:ext cx="10515600" cy="4576718"/>
          </a:xfrm>
        </p:spPr>
        <p:txBody>
          <a:bodyPr vert="horz" lIns="91440" tIns="45720" rIns="91440" bIns="45720" rtlCol="0" anchor="t">
            <a:normAutofit/>
          </a:bodyPr>
          <a:lstStyle/>
          <a:p>
            <a:r>
              <a:rPr lang="en-GB" dirty="0"/>
              <a:t>The reason for cancelation of cabs from customers are from </a:t>
            </a:r>
            <a:r>
              <a:rPr lang="en-GB"/>
              <a:t>operational point of view.</a:t>
            </a:r>
            <a:endParaRPr lang="en-US"/>
          </a:p>
          <a:p>
            <a:pPr marL="0" indent="0">
              <a:buNone/>
            </a:pPr>
            <a:endParaRPr lang="en-GB" dirty="0">
              <a:ea typeface="+mn-lt"/>
              <a:cs typeface="+mn-lt"/>
            </a:endParaRPr>
          </a:p>
          <a:p>
            <a:pPr marL="914400" lvl="1" indent="-457200">
              <a:buAutoNum type="arabicPeriod"/>
            </a:pPr>
            <a:r>
              <a:rPr lang="en-GB" b="1">
                <a:ea typeface="+mn-lt"/>
                <a:cs typeface="+mn-lt"/>
              </a:rPr>
              <a:t>Long Waiting Times:</a:t>
            </a:r>
            <a:r>
              <a:rPr lang="en-GB">
                <a:ea typeface="+mn-lt"/>
                <a:cs typeface="+mn-lt"/>
              </a:rPr>
              <a:t> Customers cancel when the driver is too far, taking too long to arrive, or not moving towards the pickup point.</a:t>
            </a:r>
          </a:p>
          <a:p>
            <a:pPr marL="914400" lvl="1" indent="-457200">
              <a:buAutoNum type="arabicPeriod"/>
            </a:pPr>
            <a:r>
              <a:rPr lang="en-GB" b="1">
                <a:ea typeface="+mn-lt"/>
                <a:cs typeface="+mn-lt"/>
              </a:rPr>
              <a:t>High Surge Pricing:</a:t>
            </a:r>
            <a:r>
              <a:rPr lang="en-GB">
                <a:ea typeface="+mn-lt"/>
                <a:cs typeface="+mn-lt"/>
              </a:rPr>
              <a:t> Customers cancel when fares spike during peak hours, often seeking cheaper alternatives.</a:t>
            </a:r>
          </a:p>
          <a:p>
            <a:pPr marL="457200" lvl="1" indent="0">
              <a:buNone/>
            </a:pPr>
            <a:endParaRPr lang="en-GB" dirty="0"/>
          </a:p>
          <a:p>
            <a:pPr marL="914400" lvl="1" indent="-457200">
              <a:buAutoNum type="arabicPeriod"/>
            </a:pPr>
            <a:endParaRPr lang="en-GB" dirty="0"/>
          </a:p>
        </p:txBody>
      </p:sp>
      <p:sp>
        <p:nvSpPr>
          <p:cNvPr id="5" name="Rectangle 4">
            <a:extLst>
              <a:ext uri="{FF2B5EF4-FFF2-40B4-BE49-F238E27FC236}">
                <a16:creationId xmlns:a16="http://schemas.microsoft.com/office/drawing/2014/main" id="{476A5179-BFC4-8EE9-B0F4-F80F4AF644A3}"/>
              </a:ext>
            </a:extLst>
          </p:cNvPr>
          <p:cNvSpPr/>
          <p:nvPr/>
        </p:nvSpPr>
        <p:spPr>
          <a:xfrm>
            <a:off x="-20320" y="274320"/>
            <a:ext cx="11734800" cy="894080"/>
          </a:xfrm>
          <a:prstGeom prst="rect">
            <a:avLst/>
          </a:prstGeom>
          <a:solidFill>
            <a:srgbClr val="FFC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7" name="Rectangle 6">
            <a:extLst>
              <a:ext uri="{FF2B5EF4-FFF2-40B4-BE49-F238E27FC236}">
                <a16:creationId xmlns:a16="http://schemas.microsoft.com/office/drawing/2014/main" id="{26999089-3FE4-77C8-862C-996D25E9B8F6}"/>
              </a:ext>
            </a:extLst>
          </p:cNvPr>
          <p:cNvSpPr/>
          <p:nvPr/>
        </p:nvSpPr>
        <p:spPr>
          <a:xfrm>
            <a:off x="11846560" y="274320"/>
            <a:ext cx="345440" cy="894080"/>
          </a:xfrm>
          <a:prstGeom prst="rect">
            <a:avLst/>
          </a:prstGeom>
          <a:solidFill>
            <a:srgbClr val="269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9" name="Title 1">
            <a:extLst>
              <a:ext uri="{FF2B5EF4-FFF2-40B4-BE49-F238E27FC236}">
                <a16:creationId xmlns:a16="http://schemas.microsoft.com/office/drawing/2014/main" id="{4F4968A0-B30B-78D3-383E-7FEFA3366D93}"/>
              </a:ext>
            </a:extLst>
          </p:cNvPr>
          <p:cNvSpPr>
            <a:spLocks noGrp="1"/>
          </p:cNvSpPr>
          <p:nvPr/>
        </p:nvSpPr>
        <p:spPr>
          <a:xfrm>
            <a:off x="167640" y="273685"/>
            <a:ext cx="10515600" cy="9166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Cancelation by customers</a:t>
            </a:r>
          </a:p>
        </p:txBody>
      </p:sp>
    </p:spTree>
    <p:extLst>
      <p:ext uri="{BB962C8B-B14F-4D97-AF65-F5344CB8AC3E}">
        <p14:creationId xmlns:p14="http://schemas.microsoft.com/office/powerpoint/2010/main" val="3364394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2EFD65-8D18-A223-32E2-14B4B6EAB52E}"/>
              </a:ext>
            </a:extLst>
          </p:cNvPr>
          <p:cNvSpPr>
            <a:spLocks noGrp="1"/>
          </p:cNvSpPr>
          <p:nvPr>
            <p:ph idx="1"/>
          </p:nvPr>
        </p:nvSpPr>
        <p:spPr/>
        <p:txBody>
          <a:bodyPr vert="horz" lIns="91440" tIns="45720" rIns="91440" bIns="45720" rtlCol="0" anchor="t">
            <a:normAutofit/>
          </a:bodyPr>
          <a:lstStyle/>
          <a:p>
            <a:pPr marL="514350" indent="-514350">
              <a:buAutoNum type="arabicPeriod"/>
            </a:pPr>
            <a:r>
              <a:rPr lang="en-GB"/>
              <a:t>Allocate resources in efficient manner.</a:t>
            </a:r>
            <a:endParaRPr lang="en-GB" dirty="0"/>
          </a:p>
          <a:p>
            <a:pPr marL="514350" indent="-514350">
              <a:buAutoNum type="arabicPeriod"/>
            </a:pPr>
            <a:r>
              <a:rPr lang="en-GB" dirty="0"/>
              <a:t>Avoid stopping the vehicle </a:t>
            </a:r>
            <a:r>
              <a:rPr lang="en-GB" err="1"/>
              <a:t>i</a:t>
            </a:r>
            <a:r>
              <a:rPr lang="en-GB" dirty="0"/>
              <a:t>n customer's screen keep it slightly moving so customer will not cancel out </a:t>
            </a:r>
            <a:r>
              <a:rPr lang="en-GB"/>
              <a:t>of frustration.</a:t>
            </a:r>
          </a:p>
          <a:p>
            <a:pPr marL="514350" indent="-514350">
              <a:buAutoNum type="arabicPeriod"/>
            </a:pPr>
            <a:r>
              <a:rPr lang="en-GB" dirty="0"/>
              <a:t>Avoid huge surge in price once customer got the quote unless there are some </a:t>
            </a:r>
            <a:r>
              <a:rPr lang="en-GB"/>
              <a:t>unexpected events.</a:t>
            </a:r>
            <a:endParaRPr lang="en-GB" dirty="0"/>
          </a:p>
          <a:p>
            <a:pPr marL="514350" indent="-514350">
              <a:buAutoNum type="arabicPeriod"/>
            </a:pPr>
            <a:endParaRPr lang="en-GB" dirty="0"/>
          </a:p>
          <a:p>
            <a:pPr marL="514350" indent="-514350">
              <a:buAutoNum type="arabicPeriod"/>
            </a:pPr>
            <a:endParaRPr lang="en-GB" dirty="0"/>
          </a:p>
          <a:p>
            <a:pPr marL="514350" indent="-514350">
              <a:buAutoNum type="arabicPeriod"/>
            </a:pPr>
            <a:endParaRPr lang="en-GB" dirty="0"/>
          </a:p>
        </p:txBody>
      </p:sp>
      <p:sp>
        <p:nvSpPr>
          <p:cNvPr id="5" name="Rectangle 4">
            <a:extLst>
              <a:ext uri="{FF2B5EF4-FFF2-40B4-BE49-F238E27FC236}">
                <a16:creationId xmlns:a16="http://schemas.microsoft.com/office/drawing/2014/main" id="{CBAAF59C-CDFE-E7D7-9C57-840B01930559}"/>
              </a:ext>
            </a:extLst>
          </p:cNvPr>
          <p:cNvSpPr/>
          <p:nvPr/>
        </p:nvSpPr>
        <p:spPr>
          <a:xfrm>
            <a:off x="-20320" y="274320"/>
            <a:ext cx="11734800" cy="894080"/>
          </a:xfrm>
          <a:prstGeom prst="rect">
            <a:avLst/>
          </a:prstGeom>
          <a:solidFill>
            <a:srgbClr val="FFC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7" name="Rectangle 6">
            <a:extLst>
              <a:ext uri="{FF2B5EF4-FFF2-40B4-BE49-F238E27FC236}">
                <a16:creationId xmlns:a16="http://schemas.microsoft.com/office/drawing/2014/main" id="{664EF6AF-C213-8D13-5BB5-9B88584C51F7}"/>
              </a:ext>
            </a:extLst>
          </p:cNvPr>
          <p:cNvSpPr/>
          <p:nvPr/>
        </p:nvSpPr>
        <p:spPr>
          <a:xfrm>
            <a:off x="11846560" y="274320"/>
            <a:ext cx="345440" cy="894080"/>
          </a:xfrm>
          <a:prstGeom prst="rect">
            <a:avLst/>
          </a:prstGeom>
          <a:solidFill>
            <a:srgbClr val="269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9" name="Title 1">
            <a:extLst>
              <a:ext uri="{FF2B5EF4-FFF2-40B4-BE49-F238E27FC236}">
                <a16:creationId xmlns:a16="http://schemas.microsoft.com/office/drawing/2014/main" id="{351B3476-C541-AC02-34FC-75FFDA45D242}"/>
              </a:ext>
            </a:extLst>
          </p:cNvPr>
          <p:cNvSpPr>
            <a:spLocks noGrp="1"/>
          </p:cNvSpPr>
          <p:nvPr/>
        </p:nvSpPr>
        <p:spPr>
          <a:xfrm>
            <a:off x="167640" y="273685"/>
            <a:ext cx="10515600" cy="9166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Solution for customer calculation</a:t>
            </a:r>
          </a:p>
        </p:txBody>
      </p:sp>
    </p:spTree>
    <p:extLst>
      <p:ext uri="{BB962C8B-B14F-4D97-AF65-F5344CB8AC3E}">
        <p14:creationId xmlns:p14="http://schemas.microsoft.com/office/powerpoint/2010/main" val="3242231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FD0B82F-6611-73C2-9B78-8418D9BF949A}"/>
              </a:ext>
            </a:extLst>
          </p:cNvPr>
          <p:cNvSpPr txBox="1"/>
          <p:nvPr/>
        </p:nvSpPr>
        <p:spPr>
          <a:xfrm>
            <a:off x="749300" y="1574800"/>
            <a:ext cx="509270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Following are the most searched  </a:t>
            </a:r>
            <a:r>
              <a:rPr lang="en-GB"/>
              <a:t>pickup location</a:t>
            </a:r>
            <a:endParaRPr lang="en-GB" dirty="0"/>
          </a:p>
          <a:p>
            <a:endParaRPr lang="en-GB" dirty="0"/>
          </a:p>
          <a:p>
            <a:pPr marL="342900" indent="-342900">
              <a:buAutoNum type="arabicPeriod"/>
            </a:pPr>
            <a:r>
              <a:rPr lang="en-GB">
                <a:ea typeface="+mn-lt"/>
                <a:cs typeface="+mn-lt"/>
              </a:rPr>
              <a:t>Mahadevapura   </a:t>
            </a:r>
            <a:endParaRPr lang="en-GB" dirty="0"/>
          </a:p>
          <a:p>
            <a:pPr marL="342900" indent="-342900">
              <a:buAutoNum type="arabicPeriod"/>
            </a:pPr>
            <a:r>
              <a:rPr lang="en-GB">
                <a:ea typeface="+mn-lt"/>
                <a:cs typeface="+mn-lt"/>
              </a:rPr>
              <a:t>Yelahanka  </a:t>
            </a:r>
            <a:endParaRPr lang="en-GB"/>
          </a:p>
          <a:p>
            <a:pPr marL="342900" indent="-342900">
              <a:buAutoNum type="arabicPeriod"/>
            </a:pPr>
            <a:r>
              <a:rPr lang="en-GB" dirty="0" err="1">
                <a:ea typeface="+mn-lt"/>
                <a:cs typeface="+mn-lt"/>
              </a:rPr>
              <a:t>Rajarajeshwarinagar</a:t>
            </a:r>
            <a:r>
              <a:rPr lang="en-GB" dirty="0">
                <a:ea typeface="+mn-lt"/>
                <a:cs typeface="+mn-lt"/>
              </a:rPr>
              <a:t>   </a:t>
            </a:r>
            <a:endParaRPr lang="en-GB" dirty="0"/>
          </a:p>
          <a:p>
            <a:pPr marL="342900" indent="-342900">
              <a:buAutoNum type="arabicPeriod"/>
            </a:pPr>
            <a:r>
              <a:rPr lang="en-GB">
                <a:ea typeface="+mn-lt"/>
                <a:cs typeface="+mn-lt"/>
              </a:rPr>
              <a:t>C. V. Raman Nagar   </a:t>
            </a:r>
            <a:endParaRPr lang="en-GB"/>
          </a:p>
          <a:p>
            <a:pPr marL="342900" indent="-342900">
              <a:buAutoNum type="arabicPeriod"/>
            </a:pPr>
            <a:r>
              <a:rPr lang="en-GB">
                <a:ea typeface="+mn-lt"/>
                <a:cs typeface="+mn-lt"/>
              </a:rPr>
              <a:t>Jayanagar  </a:t>
            </a:r>
            <a:endParaRPr lang="en-GB"/>
          </a:p>
          <a:p>
            <a:pPr marL="342900" indent="-342900">
              <a:buAutoNum type="arabicPeriod"/>
            </a:pPr>
            <a:r>
              <a:rPr lang="en-GB" dirty="0" err="1">
                <a:ea typeface="+mn-lt"/>
                <a:cs typeface="+mn-lt"/>
              </a:rPr>
              <a:t>Yeshwantpur</a:t>
            </a:r>
            <a:r>
              <a:rPr lang="en-GB" dirty="0">
                <a:ea typeface="+mn-lt"/>
                <a:cs typeface="+mn-lt"/>
              </a:rPr>
              <a:t>   </a:t>
            </a:r>
            <a:endParaRPr lang="en-GB" dirty="0"/>
          </a:p>
          <a:p>
            <a:pPr marL="342900" indent="-342900">
              <a:buAutoNum type="arabicPeriod"/>
            </a:pPr>
            <a:r>
              <a:rPr lang="en-GB" err="1">
                <a:ea typeface="+mn-lt"/>
                <a:cs typeface="+mn-lt"/>
              </a:rPr>
              <a:t>Dasarahalli</a:t>
            </a:r>
            <a:r>
              <a:rPr lang="en-GB" dirty="0">
                <a:ea typeface="+mn-lt"/>
                <a:cs typeface="+mn-lt"/>
              </a:rPr>
              <a:t>    </a:t>
            </a:r>
            <a:endParaRPr lang="en-GB" dirty="0"/>
          </a:p>
          <a:p>
            <a:pPr marL="342900" indent="-342900">
              <a:buAutoNum type="arabicPeriod"/>
            </a:pPr>
            <a:r>
              <a:rPr lang="en-GB">
                <a:ea typeface="+mn-lt"/>
                <a:cs typeface="+mn-lt"/>
              </a:rPr>
              <a:t>Other Assemblies    </a:t>
            </a:r>
            <a:endParaRPr lang="en-GB"/>
          </a:p>
          <a:p>
            <a:pPr marL="342900" indent="-342900">
              <a:buAutoNum type="arabicPeriod"/>
            </a:pPr>
            <a:r>
              <a:rPr lang="en-GB">
                <a:ea typeface="+mn-lt"/>
                <a:cs typeface="+mn-lt"/>
              </a:rPr>
              <a:t>Gandhi Nagar    </a:t>
            </a:r>
          </a:p>
          <a:p>
            <a:pPr marL="342900" indent="-342900">
              <a:buAutoNum type="arabicPeriod"/>
            </a:pPr>
            <a:r>
              <a:rPr lang="en-GB">
                <a:ea typeface="+mn-lt"/>
                <a:cs typeface="+mn-lt"/>
              </a:rPr>
              <a:t>Ramanagaram   </a:t>
            </a:r>
          </a:p>
          <a:p>
            <a:pPr marL="342900" indent="-342900">
              <a:buAutoNum type="arabicPeriod"/>
            </a:pPr>
            <a:endParaRPr lang="en-GB" dirty="0"/>
          </a:p>
          <a:p>
            <a:r>
              <a:rPr lang="en-GB" dirty="0"/>
              <a:t>We must have estimate ready for these location so there is no </a:t>
            </a:r>
            <a:r>
              <a:rPr lang="en-GB" dirty="0" err="1"/>
              <a:t>dorp</a:t>
            </a:r>
            <a:r>
              <a:rPr lang="en-GB" dirty="0"/>
              <a:t> of for estimation </a:t>
            </a:r>
          </a:p>
        </p:txBody>
      </p:sp>
      <p:sp>
        <p:nvSpPr>
          <p:cNvPr id="4" name="Rectangle 3">
            <a:extLst>
              <a:ext uri="{FF2B5EF4-FFF2-40B4-BE49-F238E27FC236}">
                <a16:creationId xmlns:a16="http://schemas.microsoft.com/office/drawing/2014/main" id="{B513FBB8-9468-E3E9-DD45-5DD5B14430A4}"/>
              </a:ext>
            </a:extLst>
          </p:cNvPr>
          <p:cNvSpPr/>
          <p:nvPr/>
        </p:nvSpPr>
        <p:spPr>
          <a:xfrm>
            <a:off x="-20320" y="274320"/>
            <a:ext cx="11734800" cy="894080"/>
          </a:xfrm>
          <a:prstGeom prst="rect">
            <a:avLst/>
          </a:prstGeom>
          <a:solidFill>
            <a:srgbClr val="FFC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6" name="Rectangle 5">
            <a:extLst>
              <a:ext uri="{FF2B5EF4-FFF2-40B4-BE49-F238E27FC236}">
                <a16:creationId xmlns:a16="http://schemas.microsoft.com/office/drawing/2014/main" id="{8BC3C78F-F629-45DA-CB36-712598E540CD}"/>
              </a:ext>
            </a:extLst>
          </p:cNvPr>
          <p:cNvSpPr/>
          <p:nvPr/>
        </p:nvSpPr>
        <p:spPr>
          <a:xfrm>
            <a:off x="11846560" y="274320"/>
            <a:ext cx="345440" cy="894080"/>
          </a:xfrm>
          <a:prstGeom prst="rect">
            <a:avLst/>
          </a:prstGeom>
          <a:solidFill>
            <a:srgbClr val="269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8" name="Title 1">
            <a:extLst>
              <a:ext uri="{FF2B5EF4-FFF2-40B4-BE49-F238E27FC236}">
                <a16:creationId xmlns:a16="http://schemas.microsoft.com/office/drawing/2014/main" id="{0260B3FA-53B4-0CCB-B381-00B1D5C7E7BB}"/>
              </a:ext>
            </a:extLst>
          </p:cNvPr>
          <p:cNvSpPr>
            <a:spLocks noGrp="1"/>
          </p:cNvSpPr>
          <p:nvPr/>
        </p:nvSpPr>
        <p:spPr>
          <a:xfrm>
            <a:off x="167640" y="273685"/>
            <a:ext cx="10515600" cy="9166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Allocation of resources </a:t>
            </a:r>
          </a:p>
        </p:txBody>
      </p:sp>
      <p:pic>
        <p:nvPicPr>
          <p:cNvPr id="18" name="Picture 17" descr="A graph with green rectangles&#10;&#10;AI-generated content may be incorrect.">
            <a:extLst>
              <a:ext uri="{FF2B5EF4-FFF2-40B4-BE49-F238E27FC236}">
                <a16:creationId xmlns:a16="http://schemas.microsoft.com/office/drawing/2014/main" id="{5BA6B7E2-A549-4D00-C7B8-B724D42B21BA}"/>
              </a:ext>
            </a:extLst>
          </p:cNvPr>
          <p:cNvPicPr>
            <a:picLocks noChangeAspect="1"/>
          </p:cNvPicPr>
          <p:nvPr/>
        </p:nvPicPr>
        <p:blipFill>
          <a:blip r:embed="rId2"/>
          <a:stretch>
            <a:fillRect/>
          </a:stretch>
        </p:blipFill>
        <p:spPr>
          <a:xfrm>
            <a:off x="5714097" y="1573813"/>
            <a:ext cx="6138993" cy="4482671"/>
          </a:xfrm>
          <a:prstGeom prst="rect">
            <a:avLst/>
          </a:prstGeom>
        </p:spPr>
      </p:pic>
    </p:spTree>
    <p:extLst>
      <p:ext uri="{BB962C8B-B14F-4D97-AF65-F5344CB8AC3E}">
        <p14:creationId xmlns:p14="http://schemas.microsoft.com/office/powerpoint/2010/main" val="298864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C156B-B3E3-A4BB-8EA9-FD846B918182}"/>
              </a:ext>
            </a:extLst>
          </p:cNvPr>
          <p:cNvSpPr>
            <a:spLocks noGrp="1"/>
          </p:cNvSpPr>
          <p:nvPr>
            <p:ph type="title"/>
          </p:nvPr>
        </p:nvSpPr>
        <p:spPr>
          <a:xfrm>
            <a:off x="333632" y="76800"/>
            <a:ext cx="10515600" cy="1325563"/>
          </a:xfrm>
        </p:spPr>
        <p:txBody>
          <a:bodyPr/>
          <a:lstStyle/>
          <a:p>
            <a:r>
              <a:rPr lang="en-GB"/>
              <a:t>Cab availability </a:t>
            </a:r>
          </a:p>
        </p:txBody>
      </p:sp>
      <p:sp>
        <p:nvSpPr>
          <p:cNvPr id="8" name="Content Placeholder 7">
            <a:extLst>
              <a:ext uri="{FF2B5EF4-FFF2-40B4-BE49-F238E27FC236}">
                <a16:creationId xmlns:a16="http://schemas.microsoft.com/office/drawing/2014/main" id="{81092E23-8201-36CC-85F9-E7A9169D737A}"/>
              </a:ext>
            </a:extLst>
          </p:cNvPr>
          <p:cNvSpPr>
            <a:spLocks noGrp="1"/>
          </p:cNvSpPr>
          <p:nvPr>
            <p:ph idx="1"/>
          </p:nvPr>
        </p:nvSpPr>
        <p:spPr>
          <a:xfrm>
            <a:off x="333634" y="1403436"/>
            <a:ext cx="6304002" cy="4938282"/>
          </a:xfrm>
        </p:spPr>
        <p:txBody>
          <a:bodyPr vert="horz" lIns="91440" tIns="45720" rIns="91440" bIns="45720" rtlCol="0" anchor="t">
            <a:normAutofit lnSpcReduction="10000"/>
          </a:bodyPr>
          <a:lstStyle/>
          <a:p>
            <a:pPr marL="0" indent="0">
              <a:buNone/>
            </a:pPr>
            <a:r>
              <a:rPr lang="en-GB" sz="2400" dirty="0"/>
              <a:t>These are most pick up location </a:t>
            </a:r>
            <a:r>
              <a:rPr lang="en-GB" sz="2400"/>
              <a:t>with successful rides</a:t>
            </a:r>
          </a:p>
          <a:p>
            <a:pPr marL="0" indent="0">
              <a:buNone/>
            </a:pPr>
            <a:endParaRPr lang="en-GB" sz="2400" dirty="0">
              <a:ea typeface="+mn-lt"/>
              <a:cs typeface="+mn-lt"/>
            </a:endParaRPr>
          </a:p>
          <a:p>
            <a:pPr marL="514350" indent="-514350">
              <a:buAutoNum type="arabicPeriod"/>
            </a:pPr>
            <a:r>
              <a:rPr lang="en-GB" sz="1800">
                <a:ea typeface="+mn-lt"/>
                <a:cs typeface="+mn-lt"/>
              </a:rPr>
              <a:t>Ramanagaram    </a:t>
            </a:r>
            <a:endParaRPr lang="en-GB" sz="1800"/>
          </a:p>
          <a:p>
            <a:pPr marL="514350" indent="-514350">
              <a:buAutoNum type="arabicPeriod"/>
            </a:pPr>
            <a:r>
              <a:rPr lang="en-GB" sz="1800" dirty="0" err="1">
                <a:ea typeface="+mn-lt"/>
                <a:cs typeface="+mn-lt"/>
              </a:rPr>
              <a:t>Yeshwantpur</a:t>
            </a:r>
            <a:r>
              <a:rPr lang="en-GB" sz="1800" dirty="0">
                <a:ea typeface="+mn-lt"/>
                <a:cs typeface="+mn-lt"/>
              </a:rPr>
              <a:t>    </a:t>
            </a:r>
            <a:endParaRPr lang="en-GB" sz="1800"/>
          </a:p>
          <a:p>
            <a:pPr marL="514350" indent="-514350">
              <a:buAutoNum type="arabicPeriod"/>
            </a:pPr>
            <a:r>
              <a:rPr lang="en-GB" sz="1800" dirty="0">
                <a:ea typeface="+mn-lt"/>
                <a:cs typeface="+mn-lt"/>
              </a:rPr>
              <a:t>Bangalore South    </a:t>
            </a:r>
            <a:endParaRPr lang="en-GB" sz="1800"/>
          </a:p>
          <a:p>
            <a:pPr marL="514350" indent="-514350">
              <a:buAutoNum type="arabicPeriod"/>
            </a:pPr>
            <a:r>
              <a:rPr lang="en-GB" sz="1800" dirty="0" err="1">
                <a:ea typeface="+mn-lt"/>
                <a:cs typeface="+mn-lt"/>
              </a:rPr>
              <a:t>Dasarahalli</a:t>
            </a:r>
            <a:r>
              <a:rPr lang="en-GB" sz="1800" dirty="0">
                <a:ea typeface="+mn-lt"/>
                <a:cs typeface="+mn-lt"/>
              </a:rPr>
              <a:t>    </a:t>
            </a:r>
            <a:endParaRPr lang="en-GB" sz="1800"/>
          </a:p>
          <a:p>
            <a:pPr marL="514350" indent="-514350">
              <a:buAutoNum type="arabicPeriod"/>
            </a:pPr>
            <a:r>
              <a:rPr lang="en-GB" sz="1800">
                <a:ea typeface="+mn-lt"/>
                <a:cs typeface="+mn-lt"/>
              </a:rPr>
              <a:t>Gandhi Nagar    </a:t>
            </a:r>
            <a:endParaRPr lang="en-GB" sz="1800"/>
          </a:p>
          <a:p>
            <a:pPr marL="514350" indent="-514350">
              <a:buAutoNum type="arabicPeriod"/>
            </a:pPr>
            <a:r>
              <a:rPr lang="en-GB" sz="1800" dirty="0" err="1">
                <a:ea typeface="+mn-lt"/>
                <a:cs typeface="+mn-lt"/>
              </a:rPr>
              <a:t>Rajarajeshwarinagar</a:t>
            </a:r>
            <a:r>
              <a:rPr lang="en-GB" sz="1800" dirty="0">
                <a:ea typeface="+mn-lt"/>
                <a:cs typeface="+mn-lt"/>
              </a:rPr>
              <a:t>    </a:t>
            </a:r>
            <a:endParaRPr lang="en-GB" sz="1800"/>
          </a:p>
          <a:p>
            <a:pPr marL="514350" indent="-514350">
              <a:buAutoNum type="arabicPeriod"/>
            </a:pPr>
            <a:r>
              <a:rPr lang="en-GB" sz="1800">
                <a:ea typeface="+mn-lt"/>
                <a:cs typeface="+mn-lt"/>
              </a:rPr>
              <a:t>Hebbal    </a:t>
            </a:r>
            <a:endParaRPr lang="en-GB" sz="1800"/>
          </a:p>
          <a:p>
            <a:pPr marL="514350" indent="-514350">
              <a:buAutoNum type="arabicPeriod"/>
            </a:pPr>
            <a:r>
              <a:rPr lang="en-GB" sz="1800">
                <a:ea typeface="+mn-lt"/>
                <a:cs typeface="+mn-lt"/>
              </a:rPr>
              <a:t>Jayanagar    </a:t>
            </a:r>
            <a:endParaRPr lang="en-GB" sz="1800"/>
          </a:p>
          <a:p>
            <a:pPr marL="514350" indent="-514350">
              <a:buAutoNum type="arabicPeriod"/>
            </a:pPr>
            <a:r>
              <a:rPr lang="en-GB" sz="1800">
                <a:ea typeface="+mn-lt"/>
                <a:cs typeface="+mn-lt"/>
              </a:rPr>
              <a:t>Govindraj Nagar</a:t>
            </a:r>
            <a:endParaRPr lang="en-GB" sz="1800"/>
          </a:p>
          <a:p>
            <a:pPr marL="514350" indent="-514350">
              <a:buAutoNum type="arabicPeriod"/>
            </a:pPr>
            <a:r>
              <a:rPr lang="en-GB" sz="1800">
                <a:ea typeface="+mn-lt"/>
                <a:cs typeface="+mn-lt"/>
              </a:rPr>
              <a:t>Other Assemblies</a:t>
            </a:r>
            <a:endParaRPr lang="en-GB" sz="1800"/>
          </a:p>
          <a:p>
            <a:pPr marL="0" indent="0">
              <a:buNone/>
            </a:pPr>
            <a:endParaRPr lang="en-GB" dirty="0"/>
          </a:p>
        </p:txBody>
      </p:sp>
      <p:sp>
        <p:nvSpPr>
          <p:cNvPr id="4" name="Rectangle 3">
            <a:extLst>
              <a:ext uri="{FF2B5EF4-FFF2-40B4-BE49-F238E27FC236}">
                <a16:creationId xmlns:a16="http://schemas.microsoft.com/office/drawing/2014/main" id="{08C9D015-C070-74CB-8B15-C465B77FB08D}"/>
              </a:ext>
            </a:extLst>
          </p:cNvPr>
          <p:cNvSpPr/>
          <p:nvPr/>
        </p:nvSpPr>
        <p:spPr>
          <a:xfrm>
            <a:off x="-20320" y="274320"/>
            <a:ext cx="11734800" cy="894080"/>
          </a:xfrm>
          <a:prstGeom prst="rect">
            <a:avLst/>
          </a:prstGeom>
          <a:solidFill>
            <a:srgbClr val="FFC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7" name="Rectangle 6">
            <a:extLst>
              <a:ext uri="{FF2B5EF4-FFF2-40B4-BE49-F238E27FC236}">
                <a16:creationId xmlns:a16="http://schemas.microsoft.com/office/drawing/2014/main" id="{C8C900C9-84CD-9A47-25B8-5DF45FF2CCF0}"/>
              </a:ext>
            </a:extLst>
          </p:cNvPr>
          <p:cNvSpPr/>
          <p:nvPr/>
        </p:nvSpPr>
        <p:spPr>
          <a:xfrm>
            <a:off x="11846560" y="274320"/>
            <a:ext cx="345440" cy="894080"/>
          </a:xfrm>
          <a:prstGeom prst="rect">
            <a:avLst/>
          </a:prstGeom>
          <a:solidFill>
            <a:srgbClr val="269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0" name="Title 1">
            <a:extLst>
              <a:ext uri="{FF2B5EF4-FFF2-40B4-BE49-F238E27FC236}">
                <a16:creationId xmlns:a16="http://schemas.microsoft.com/office/drawing/2014/main" id="{BA25972F-8BDC-48E4-DC32-C0634D778F9D}"/>
              </a:ext>
            </a:extLst>
          </p:cNvPr>
          <p:cNvSpPr>
            <a:spLocks noGrp="1"/>
          </p:cNvSpPr>
          <p:nvPr/>
        </p:nvSpPr>
        <p:spPr>
          <a:xfrm>
            <a:off x="167640" y="273685"/>
            <a:ext cx="10515600" cy="9166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Estimated price calculation</a:t>
            </a:r>
          </a:p>
        </p:txBody>
      </p:sp>
      <p:pic>
        <p:nvPicPr>
          <p:cNvPr id="11" name="Picture 10" descr="A graph of a number of successful ride&#10;&#10;AI-generated content may be incorrect.">
            <a:extLst>
              <a:ext uri="{FF2B5EF4-FFF2-40B4-BE49-F238E27FC236}">
                <a16:creationId xmlns:a16="http://schemas.microsoft.com/office/drawing/2014/main" id="{F71C6680-6443-6EAA-445C-1B466BDC22DD}"/>
              </a:ext>
            </a:extLst>
          </p:cNvPr>
          <p:cNvPicPr>
            <a:picLocks noChangeAspect="1"/>
          </p:cNvPicPr>
          <p:nvPr/>
        </p:nvPicPr>
        <p:blipFill>
          <a:blip r:embed="rId2"/>
          <a:stretch>
            <a:fillRect/>
          </a:stretch>
        </p:blipFill>
        <p:spPr>
          <a:xfrm>
            <a:off x="5498113" y="1401462"/>
            <a:ext cx="5953125" cy="5105400"/>
          </a:xfrm>
          <a:prstGeom prst="rect">
            <a:avLst/>
          </a:prstGeom>
        </p:spPr>
      </p:pic>
    </p:spTree>
    <p:extLst>
      <p:ext uri="{BB962C8B-B14F-4D97-AF65-F5344CB8AC3E}">
        <p14:creationId xmlns:p14="http://schemas.microsoft.com/office/powerpoint/2010/main" val="3663825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Namma Yatri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Cab availability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ambar chaudhari</cp:lastModifiedBy>
  <cp:revision>544</cp:revision>
  <dcterms:created xsi:type="dcterms:W3CDTF">2013-07-15T20:26:40Z</dcterms:created>
  <dcterms:modified xsi:type="dcterms:W3CDTF">2026-04-21T16:12:39Z</dcterms:modified>
</cp:coreProperties>
</file>