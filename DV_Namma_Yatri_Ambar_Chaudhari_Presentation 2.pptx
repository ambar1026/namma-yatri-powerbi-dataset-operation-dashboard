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5" r:id="rId4"/>
    <p:sldId id="264" r:id="rId5"/>
    <p:sldId id="262" r:id="rId6"/>
    <p:sldId id="266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9574"/>
    <a:srgbClr val="FFCF87"/>
    <a:srgbClr val="F49E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CB4CED-1637-46DC-8B1E-CF3BAEF17135}" v="434" dt="2026-04-20T17:50:36.957"/>
    <p1510:client id="{256D2ADD-E8B1-4ACB-8B7F-3038052EA4EC}" v="1456" dt="2026-04-21T15:17:17.737"/>
    <p1510:client id="{BDC4ADA8-CC61-4143-82E3-0C113083F506}" v="1494" dt="2026-04-20T06:55:39.2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47236"/>
            <a:ext cx="9144000" cy="2387600"/>
          </a:xfrm>
        </p:spPr>
        <p:txBody>
          <a:bodyPr/>
          <a:lstStyle/>
          <a:p>
            <a:r>
              <a:rPr lang="en-GB" sz="7200" dirty="0" err="1">
                <a:solidFill>
                  <a:srgbClr val="F49E20"/>
                </a:solidFill>
                <a:latin typeface="Aptos Display"/>
              </a:rPr>
              <a:t>Namma</a:t>
            </a:r>
            <a:r>
              <a:rPr lang="en-GB" sz="7200" dirty="0">
                <a:solidFill>
                  <a:srgbClr val="F49E20"/>
                </a:solidFill>
                <a:latin typeface="Aptos Display"/>
              </a:rPr>
              <a:t> </a:t>
            </a:r>
            <a:r>
              <a:rPr lang="en-GB" sz="7200" dirty="0">
                <a:solidFill>
                  <a:srgbClr val="269574"/>
                </a:solidFill>
                <a:latin typeface="Aptos Display"/>
              </a:rPr>
              <a:t>Yatri</a:t>
            </a:r>
            <a:endParaRPr lang="en-US" sz="7200">
              <a:solidFill>
                <a:srgbClr val="269574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77672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3200"/>
              <a:t>Management strategy</a:t>
            </a:r>
            <a:r>
              <a:rPr lang="en-GB" sz="3200" dirty="0"/>
              <a:t>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11002F-8523-DD30-0E47-B2B86535998E}"/>
              </a:ext>
            </a:extLst>
          </p:cNvPr>
          <p:cNvSpPr txBox="1"/>
          <p:nvPr/>
        </p:nvSpPr>
        <p:spPr>
          <a:xfrm>
            <a:off x="504422" y="5967211"/>
            <a:ext cx="46750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Presentation by Ambar Chaudhari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8E6131D-9A7F-DFAC-3F0B-E96A92A31E36}"/>
              </a:ext>
            </a:extLst>
          </p:cNvPr>
          <p:cNvSpPr/>
          <p:nvPr/>
        </p:nvSpPr>
        <p:spPr>
          <a:xfrm>
            <a:off x="487680" y="274320"/>
            <a:ext cx="11226800" cy="894080"/>
          </a:xfrm>
          <a:prstGeom prst="rect">
            <a:avLst/>
          </a:prstGeom>
          <a:solidFill>
            <a:srgbClr val="FFCF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F2605D-0701-2C14-BACD-951202201FB6}"/>
              </a:ext>
            </a:extLst>
          </p:cNvPr>
          <p:cNvSpPr/>
          <p:nvPr/>
        </p:nvSpPr>
        <p:spPr>
          <a:xfrm>
            <a:off x="11846560" y="274320"/>
            <a:ext cx="345440" cy="894080"/>
          </a:xfrm>
          <a:prstGeom prst="rect">
            <a:avLst/>
          </a:prstGeom>
          <a:solidFill>
            <a:srgbClr val="26957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E24F413-D2C4-8084-D597-8DA3246631F3}"/>
              </a:ext>
            </a:extLst>
          </p:cNvPr>
          <p:cNvSpPr txBox="1">
            <a:spLocks/>
          </p:cNvSpPr>
          <p:nvPr/>
        </p:nvSpPr>
        <p:spPr>
          <a:xfrm>
            <a:off x="167640" y="273685"/>
            <a:ext cx="11531600" cy="896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/>
              <a:t>Objective 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AAF0E-FDB5-D95A-B628-DC58A2BC9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5240" y="1476468"/>
            <a:ext cx="11724640" cy="47004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GB" sz="3200"/>
              <a:t>Create a management guide for  </a:t>
            </a:r>
            <a:endParaRPr lang="en-US" sz="3200"/>
          </a:p>
          <a:p>
            <a:pPr marL="0" indent="0" algn="ctr">
              <a:buNone/>
            </a:pPr>
            <a:endParaRPr lang="en-GB" dirty="0"/>
          </a:p>
          <a:p>
            <a:pPr marL="514350" indent="-514350" algn="ctr">
              <a:buAutoNum type="arabicPeriod"/>
            </a:pPr>
            <a:r>
              <a:rPr lang="en-GB" sz="2900"/>
              <a:t>Boosting c</a:t>
            </a:r>
            <a:r>
              <a:rPr lang="en-GB" sz="2900" dirty="0"/>
              <a:t>onversion rate,</a:t>
            </a:r>
            <a:endParaRPr lang="en-US" sz="2900"/>
          </a:p>
          <a:p>
            <a:pPr marL="514350" indent="-514350" algn="ctr">
              <a:buAutoNum type="arabicPeriod"/>
            </a:pPr>
            <a:r>
              <a:rPr lang="en-GB" sz="2900"/>
              <a:t>Adding more  trips </a:t>
            </a:r>
            <a:endParaRPr lang="en-GB" sz="2900" dirty="0"/>
          </a:p>
          <a:p>
            <a:pPr marL="514350" indent="-514350" algn="ctr">
              <a:buAutoNum type="arabicPeriod"/>
            </a:pPr>
            <a:r>
              <a:rPr lang="en-GB" sz="2900" dirty="0"/>
              <a:t>Adding </a:t>
            </a:r>
            <a:r>
              <a:rPr lang="en-GB" sz="2900"/>
              <a:t>distance for ride</a:t>
            </a:r>
            <a:endParaRPr lang="en-GB" sz="2900" dirty="0"/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of </a:t>
            </a:r>
            <a:r>
              <a:rPr lang="en-GB" dirty="0" err="1"/>
              <a:t>Namma</a:t>
            </a:r>
            <a:r>
              <a:rPr lang="en-GB" dirty="0"/>
              <a:t> Yatri Cab</a:t>
            </a:r>
            <a:endParaRPr lang="en-US" dirty="0"/>
          </a:p>
          <a:p>
            <a:pPr marL="0" indent="0" algn="ctr">
              <a:buNone/>
            </a:pPr>
            <a:r>
              <a:rPr lang="en-GB"/>
              <a:t>services </a:t>
            </a:r>
            <a:endParaRPr lang="en-US"/>
          </a:p>
          <a:p>
            <a:pPr marL="514350" indent="-514350">
              <a:buAutoNum type="arabicPeriod"/>
            </a:pPr>
            <a:endParaRPr lang="en-GB" dirty="0"/>
          </a:p>
          <a:p>
            <a:pPr marL="514350" indent="-514350">
              <a:buAutoNum type="arabicPeriod"/>
            </a:pPr>
            <a:endParaRPr lang="en-GB" dirty="0"/>
          </a:p>
          <a:p>
            <a:pPr marL="514350" indent="-514350">
              <a:buAutoNum type="arabicPeriod"/>
            </a:pPr>
            <a:endParaRPr lang="en-GB" dirty="0"/>
          </a:p>
          <a:p>
            <a:pPr marL="514350" indent="-514350">
              <a:buAutoNum type="arabicPeriod"/>
            </a:pPr>
            <a:endParaRPr lang="en-GB" dirty="0"/>
          </a:p>
          <a:p>
            <a:pPr marL="514350" indent="-514350">
              <a:buAutoNum type="arabicPeriod"/>
            </a:pPr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B54D98-0203-D94D-7114-5FF6D064092F}"/>
              </a:ext>
            </a:extLst>
          </p:cNvPr>
          <p:cNvSpPr/>
          <p:nvPr/>
        </p:nvSpPr>
        <p:spPr>
          <a:xfrm>
            <a:off x="-1" y="274320"/>
            <a:ext cx="345440" cy="894080"/>
          </a:xfrm>
          <a:prstGeom prst="rect">
            <a:avLst/>
          </a:prstGeom>
          <a:solidFill>
            <a:srgbClr val="26957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4414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EC4510D-F517-EBDD-2140-70BD503F4E84}"/>
              </a:ext>
            </a:extLst>
          </p:cNvPr>
          <p:cNvSpPr/>
          <p:nvPr/>
        </p:nvSpPr>
        <p:spPr>
          <a:xfrm>
            <a:off x="-20320" y="274320"/>
            <a:ext cx="11734800" cy="894080"/>
          </a:xfrm>
          <a:prstGeom prst="rect">
            <a:avLst/>
          </a:prstGeom>
          <a:solidFill>
            <a:srgbClr val="FFCF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BA2C8F-5337-C26C-01DD-EA0D97B0B918}"/>
              </a:ext>
            </a:extLst>
          </p:cNvPr>
          <p:cNvSpPr/>
          <p:nvPr/>
        </p:nvSpPr>
        <p:spPr>
          <a:xfrm>
            <a:off x="11846560" y="274320"/>
            <a:ext cx="345440" cy="894080"/>
          </a:xfrm>
          <a:prstGeom prst="rect">
            <a:avLst/>
          </a:prstGeom>
          <a:solidFill>
            <a:srgbClr val="26957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58BF90-9909-E9AA-E543-07FE96384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" y="273685"/>
            <a:ext cx="10515600" cy="916685"/>
          </a:xfrm>
        </p:spPr>
        <p:txBody>
          <a:bodyPr/>
          <a:lstStyle/>
          <a:p>
            <a:r>
              <a:rPr lang="en-GB"/>
              <a:t>Market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D39E4-43A0-8A05-68BC-7E5CDC59C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040" y="1528136"/>
            <a:ext cx="10515600" cy="4669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Indian cab market has </a:t>
            </a:r>
            <a:r>
              <a:rPr lang="en-GB"/>
              <a:t>size of USD 23.98B for year 2026</a:t>
            </a:r>
          </a:p>
          <a:p>
            <a:r>
              <a:rPr lang="en-GB" dirty="0"/>
              <a:t>Which is projected to grow at rate of 7.78% </a:t>
            </a:r>
            <a:r>
              <a:rPr lang="en-GB"/>
              <a:t>till 2031.</a:t>
            </a:r>
          </a:p>
          <a:p>
            <a:r>
              <a:rPr lang="en-GB"/>
              <a:t>The estimated size of Indian cab market will be 34.87B by 2031</a:t>
            </a:r>
          </a:p>
          <a:p>
            <a:r>
              <a:rPr lang="en-GB" dirty="0"/>
              <a:t>So, </a:t>
            </a:r>
            <a:r>
              <a:rPr lang="en-GB"/>
              <a:t>it is</a:t>
            </a:r>
            <a:r>
              <a:rPr lang="en-GB" dirty="0"/>
              <a:t> fast-growing market we must focus on increasing </a:t>
            </a:r>
            <a:r>
              <a:rPr lang="en-GB" err="1"/>
              <a:t>our</a:t>
            </a:r>
            <a:r>
              <a:rPr lang="en-GB" dirty="0"/>
              <a:t> revenue by  more than 15%</a:t>
            </a:r>
          </a:p>
          <a:p>
            <a:r>
              <a:rPr lang="en-GB"/>
              <a:t>Our biggest competitor are Ola and Uber</a:t>
            </a:r>
            <a:endParaRPr lang="en-GB" dirty="0"/>
          </a:p>
          <a:p>
            <a:r>
              <a:rPr lang="en-GB" dirty="0"/>
              <a:t>They </a:t>
            </a:r>
            <a:r>
              <a:rPr lang="en-GB" dirty="0" err="1"/>
              <a:t>wor</a:t>
            </a:r>
            <a:r>
              <a:rPr lang="en-GB" dirty="0"/>
              <a:t>k on commission model we are revolutionizing it changing it to subscription model</a:t>
            </a:r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641D49-1F53-DB01-485C-13093A218585}"/>
              </a:ext>
            </a:extLst>
          </p:cNvPr>
          <p:cNvSpPr txBox="1"/>
          <p:nvPr/>
        </p:nvSpPr>
        <p:spPr>
          <a:xfrm>
            <a:off x="536619" y="6321379"/>
            <a:ext cx="411050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Source – Mordor Intelligence </a:t>
            </a:r>
          </a:p>
        </p:txBody>
      </p:sp>
    </p:spTree>
    <p:extLst>
      <p:ext uri="{BB962C8B-B14F-4D97-AF65-F5344CB8AC3E}">
        <p14:creationId xmlns:p14="http://schemas.microsoft.com/office/powerpoint/2010/main" val="1865571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1A37B94-608F-8804-DBC0-E744FA340D3F}"/>
              </a:ext>
            </a:extLst>
          </p:cNvPr>
          <p:cNvSpPr/>
          <p:nvPr/>
        </p:nvSpPr>
        <p:spPr>
          <a:xfrm>
            <a:off x="-20320" y="274320"/>
            <a:ext cx="11734800" cy="894080"/>
          </a:xfrm>
          <a:prstGeom prst="rect">
            <a:avLst/>
          </a:prstGeom>
          <a:solidFill>
            <a:srgbClr val="FFCF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A925A2-0770-6C3F-84D8-1755D9F74AA5}"/>
              </a:ext>
            </a:extLst>
          </p:cNvPr>
          <p:cNvSpPr/>
          <p:nvPr/>
        </p:nvSpPr>
        <p:spPr>
          <a:xfrm>
            <a:off x="11846560" y="274320"/>
            <a:ext cx="345440" cy="894080"/>
          </a:xfrm>
          <a:prstGeom prst="rect">
            <a:avLst/>
          </a:prstGeom>
          <a:solidFill>
            <a:srgbClr val="26957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3FA750-6BA8-9E52-CF31-086602DC4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395605"/>
            <a:ext cx="10515600" cy="1325563"/>
          </a:xfrm>
        </p:spPr>
        <p:txBody>
          <a:bodyPr/>
          <a:lstStyle/>
          <a:p>
            <a:r>
              <a:rPr lang="en-GB" sz="4000" dirty="0">
                <a:latin typeface="Aptos"/>
              </a:rPr>
              <a:t>Key analysis on </a:t>
            </a:r>
            <a:r>
              <a:rPr lang="en-GB" sz="4000" dirty="0" err="1">
                <a:latin typeface="Aptos"/>
              </a:rPr>
              <a:t>Namma</a:t>
            </a:r>
            <a:r>
              <a:rPr lang="en-GB" sz="4000" dirty="0">
                <a:latin typeface="Aptos"/>
              </a:rPr>
              <a:t> Yatri dataset </a:t>
            </a:r>
          </a:p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8EAE5-0EFD-7D13-B175-446BA4160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040" y="1541145"/>
            <a:ext cx="10515600" cy="492029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GB"/>
              <a:t>Conversation rate is key factor in number of successful rides</a:t>
            </a:r>
          </a:p>
          <a:p>
            <a:pPr marL="514350" indent="-514350">
              <a:buAutoNum type="arabicPeriod"/>
            </a:pPr>
            <a:r>
              <a:rPr lang="en-GB" dirty="0"/>
              <a:t>Distance driven, successful  rides and Revenue generated  </a:t>
            </a:r>
            <a:r>
              <a:rPr lang="en-GB"/>
              <a:t>are positively</a:t>
            </a:r>
            <a:r>
              <a:rPr lang="en-GB" dirty="0"/>
              <a:t> co-related.</a:t>
            </a:r>
          </a:p>
          <a:p>
            <a:pPr marL="514350" indent="-514350">
              <a:buAutoNum type="arabicPeriod"/>
            </a:pPr>
            <a:r>
              <a:rPr lang="en-GB" dirty="0"/>
              <a:t>Charing more per Km does not significantly increases </a:t>
            </a:r>
            <a:r>
              <a:rPr lang="en-GB"/>
              <a:t>the revenue</a:t>
            </a:r>
            <a:r>
              <a:rPr lang="en-GB" dirty="0"/>
              <a:t> as customers cancel the rides.</a:t>
            </a:r>
            <a:endParaRPr lang="en-US" dirty="0"/>
          </a:p>
          <a:p>
            <a:pPr marL="514350" indent="-514350">
              <a:buAutoNum type="arabicPeriod"/>
            </a:pPr>
            <a:r>
              <a:rPr lang="en-GB"/>
              <a:t>The number of successful rides are dropping in peak hours(morning (8 AM – 10 AM) and evening (6 PM – 9 PM)).</a:t>
            </a:r>
          </a:p>
          <a:p>
            <a:pPr marL="514350" indent="-514350">
              <a:buAutoNum type="arabicPeriod"/>
            </a:pPr>
            <a:r>
              <a:rPr lang="en-GB" dirty="0"/>
              <a:t>Customer tends use credit card and debit cards when they </a:t>
            </a:r>
            <a:r>
              <a:rPr lang="en-GB"/>
              <a:t>use our</a:t>
            </a:r>
            <a:r>
              <a:rPr lang="en-GB" dirty="0"/>
              <a:t> service regularly.</a:t>
            </a:r>
          </a:p>
        </p:txBody>
      </p:sp>
    </p:spTree>
    <p:extLst>
      <p:ext uri="{BB962C8B-B14F-4D97-AF65-F5344CB8AC3E}">
        <p14:creationId xmlns:p14="http://schemas.microsoft.com/office/powerpoint/2010/main" val="3056179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84E75D0-BFF8-1A2D-7A4E-3A492592A2FE}"/>
              </a:ext>
            </a:extLst>
          </p:cNvPr>
          <p:cNvSpPr/>
          <p:nvPr/>
        </p:nvSpPr>
        <p:spPr>
          <a:xfrm>
            <a:off x="-20320" y="274320"/>
            <a:ext cx="11734800" cy="894080"/>
          </a:xfrm>
          <a:prstGeom prst="rect">
            <a:avLst/>
          </a:prstGeom>
          <a:solidFill>
            <a:srgbClr val="FFCF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35B462-9DF8-EE10-9E8C-9AB1DFD0A5D4}"/>
              </a:ext>
            </a:extLst>
          </p:cNvPr>
          <p:cNvSpPr/>
          <p:nvPr/>
        </p:nvSpPr>
        <p:spPr>
          <a:xfrm>
            <a:off x="11846560" y="274320"/>
            <a:ext cx="345440" cy="894080"/>
          </a:xfrm>
          <a:prstGeom prst="rect">
            <a:avLst/>
          </a:prstGeom>
          <a:solidFill>
            <a:srgbClr val="26957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1E4D32-0389-DF2D-7D2B-16CF648B1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480" y="131445"/>
            <a:ext cx="10515600" cy="1325563"/>
          </a:xfrm>
        </p:spPr>
        <p:txBody>
          <a:bodyPr/>
          <a:lstStyle/>
          <a:p>
            <a:r>
              <a:rPr lang="en-US"/>
              <a:t>Conversation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83600-0A1C-0F8A-35B7-7E759885D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848" y="1358265"/>
            <a:ext cx="11062952" cy="481869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  Improving conversation rate can significantly boost our revenue.</a:t>
            </a:r>
            <a:endParaRPr lang="en-US" dirty="0"/>
          </a:p>
          <a:p>
            <a:r>
              <a:rPr lang="en-US" dirty="0"/>
              <a:t>Average conversation rate of </a:t>
            </a:r>
            <a:r>
              <a:rPr lang="en-US" dirty="0" err="1"/>
              <a:t>Namma</a:t>
            </a:r>
            <a:r>
              <a:rPr lang="en-US" dirty="0"/>
              <a:t> Yatri is 45.49%.</a:t>
            </a:r>
          </a:p>
          <a:p>
            <a:r>
              <a:rPr lang="en-US" dirty="0"/>
              <a:t>For some </a:t>
            </a:r>
            <a:r>
              <a:rPr lang="en-US"/>
              <a:t>location quite its low.</a:t>
            </a:r>
          </a:p>
          <a:p>
            <a:r>
              <a:rPr lang="en-US" dirty="0"/>
              <a:t>We should improve it by sending targeted ads, installing billboards, send proper estimation and avoiding driver and </a:t>
            </a:r>
            <a:r>
              <a:rPr lang="en-US"/>
              <a:t>customer cancelation</a:t>
            </a:r>
            <a:r>
              <a:rPr lang="en-US" dirty="0"/>
              <a:t>.</a:t>
            </a:r>
          </a:p>
          <a:p>
            <a:r>
              <a:rPr lang="en-US" dirty="0"/>
              <a:t>To avoid driver cancelation incentives, them with more </a:t>
            </a:r>
            <a:r>
              <a:rPr lang="en-US"/>
              <a:t>commission or  vouchers.</a:t>
            </a:r>
            <a:endParaRPr lang="en-US" dirty="0"/>
          </a:p>
          <a:p>
            <a:r>
              <a:rPr lang="en-US" dirty="0"/>
              <a:t>The customer satisfaction must improve so there are less cancelation from </a:t>
            </a:r>
            <a:r>
              <a:rPr lang="en-US" dirty="0" err="1"/>
              <a:t>there</a:t>
            </a:r>
            <a:r>
              <a:rPr lang="en-US" dirty="0"/>
              <a:t> sides.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568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FAC37A4-7D46-0059-1411-AFFB5E9D1938}"/>
              </a:ext>
            </a:extLst>
          </p:cNvPr>
          <p:cNvSpPr/>
          <p:nvPr/>
        </p:nvSpPr>
        <p:spPr>
          <a:xfrm>
            <a:off x="-20320" y="274320"/>
            <a:ext cx="11734800" cy="894080"/>
          </a:xfrm>
          <a:prstGeom prst="rect">
            <a:avLst/>
          </a:prstGeom>
          <a:solidFill>
            <a:srgbClr val="FFCF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85A18B-B90E-8E8F-CBA3-3BD5C1602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5400" y="273685"/>
            <a:ext cx="10515600" cy="896268"/>
          </a:xfrm>
        </p:spPr>
        <p:txBody>
          <a:bodyPr/>
          <a:lstStyle/>
          <a:p>
            <a:r>
              <a:rPr lang="en-GB" dirty="0"/>
              <a:t>Low </a:t>
            </a:r>
            <a:r>
              <a:rPr lang="en-GB"/>
              <a:t>conversion rate zones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FBFA83-2ECA-CEC5-80F6-5967508B2AEB}"/>
              </a:ext>
            </a:extLst>
          </p:cNvPr>
          <p:cNvSpPr txBox="1"/>
          <p:nvPr/>
        </p:nvSpPr>
        <p:spPr>
          <a:xfrm>
            <a:off x="400246" y="1290463"/>
            <a:ext cx="5177592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ea typeface="+mn-lt"/>
                <a:cs typeface="+mn-lt"/>
              </a:rPr>
              <a:t>Theses</a:t>
            </a:r>
            <a:r>
              <a:rPr lang="en-GB" dirty="0">
                <a:ea typeface="+mn-lt"/>
                <a:cs typeface="+mn-lt"/>
              </a:rPr>
              <a:t> pick up zones has low conversion rate and high cancelation rate </a:t>
            </a:r>
            <a:endParaRPr lang="en-US" dirty="0" err="1">
              <a:ea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en-GB" dirty="0" err="1">
                <a:ea typeface="+mn-lt"/>
                <a:cs typeface="+mn-lt"/>
              </a:rPr>
              <a:t>Anekal</a:t>
            </a:r>
            <a:endParaRPr lang="en-GB" dirty="0">
              <a:ea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en-GB" dirty="0" err="1">
                <a:ea typeface="+mn-lt"/>
                <a:cs typeface="+mn-lt"/>
              </a:rPr>
              <a:t>Byatarayanapura</a:t>
            </a:r>
            <a:endParaRPr lang="en-GB" dirty="0">
              <a:ea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en-GB" dirty="0">
                <a:ea typeface="+mn-lt"/>
                <a:cs typeface="+mn-lt"/>
              </a:rPr>
              <a:t>C. V. </a:t>
            </a:r>
            <a:r>
              <a:rPr lang="en-GB">
                <a:ea typeface="+mn-lt"/>
                <a:cs typeface="+mn-lt"/>
              </a:rPr>
              <a:t>Raman Nagar</a:t>
            </a:r>
            <a:endParaRPr lang="en-GB" dirty="0">
              <a:ea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en-GB" dirty="0" err="1">
                <a:ea typeface="+mn-lt"/>
                <a:cs typeface="+mn-lt"/>
              </a:rPr>
              <a:t>Doddaballapur</a:t>
            </a:r>
            <a:endParaRPr lang="en-US" dirty="0" err="1">
              <a:ea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en-GB">
                <a:ea typeface="+mn-lt"/>
                <a:cs typeface="+mn-lt"/>
              </a:rPr>
              <a:t>Mahadevapura.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13FE66-B91F-A259-F19B-AC69C74AC9AD}"/>
              </a:ext>
            </a:extLst>
          </p:cNvPr>
          <p:cNvSpPr/>
          <p:nvPr/>
        </p:nvSpPr>
        <p:spPr>
          <a:xfrm>
            <a:off x="11846560" y="274320"/>
            <a:ext cx="345440" cy="894080"/>
          </a:xfrm>
          <a:prstGeom prst="rect">
            <a:avLst/>
          </a:prstGeom>
          <a:solidFill>
            <a:srgbClr val="26957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8E97A9-549E-C962-111B-7723171C0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412" y="1285240"/>
            <a:ext cx="6058535" cy="458216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9057079-86E1-BB58-0777-8FEC83B42123}"/>
              </a:ext>
            </a:extLst>
          </p:cNvPr>
          <p:cNvSpPr txBox="1"/>
          <p:nvPr/>
        </p:nvSpPr>
        <p:spPr>
          <a:xfrm>
            <a:off x="396240" y="3576320"/>
            <a:ext cx="504952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Suggestions</a:t>
            </a:r>
            <a:endParaRPr lang="en-GB" dirty="0"/>
          </a:p>
          <a:p>
            <a:endParaRPr lang="en-GB" dirty="0"/>
          </a:p>
          <a:p>
            <a:pPr marL="342900" indent="-342900">
              <a:buAutoNum type="arabicPeriod"/>
            </a:pPr>
            <a:r>
              <a:rPr lang="en-GB"/>
              <a:t>These locations has revenue of INR 82K.</a:t>
            </a:r>
            <a:endParaRPr lang="en-US"/>
          </a:p>
          <a:p>
            <a:pPr marL="342900" indent="-342900">
              <a:buAutoNum type="arabicPeriod"/>
            </a:pPr>
            <a:r>
              <a:rPr lang="en-GB" dirty="0"/>
              <a:t>Improving conversion and cancelation  rate </a:t>
            </a:r>
            <a:r>
              <a:rPr lang="en-GB"/>
              <a:t>is needed</a:t>
            </a:r>
            <a:r>
              <a:rPr lang="en-GB" dirty="0"/>
              <a:t> in these locations.</a:t>
            </a:r>
          </a:p>
          <a:p>
            <a:pPr marL="342900" indent="-342900">
              <a:buAutoNum type="arabicPeriod"/>
            </a:pPr>
            <a:r>
              <a:rPr lang="en-GB" dirty="0"/>
              <a:t>Considering 20% growth in successful rides </a:t>
            </a:r>
            <a:r>
              <a:rPr lang="en-GB"/>
              <a:t>the revenue</a:t>
            </a:r>
            <a:r>
              <a:rPr lang="en-GB" dirty="0"/>
              <a:t> will jump to INR 104K in these location</a:t>
            </a:r>
          </a:p>
        </p:txBody>
      </p:sp>
    </p:spTree>
    <p:extLst>
      <p:ext uri="{BB962C8B-B14F-4D97-AF65-F5344CB8AC3E}">
        <p14:creationId xmlns:p14="http://schemas.microsoft.com/office/powerpoint/2010/main" val="270499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929DA48-693F-F68D-8088-44B92E127D44}"/>
              </a:ext>
            </a:extLst>
          </p:cNvPr>
          <p:cNvSpPr/>
          <p:nvPr/>
        </p:nvSpPr>
        <p:spPr>
          <a:xfrm>
            <a:off x="-20320" y="274320"/>
            <a:ext cx="11734800" cy="894080"/>
          </a:xfrm>
          <a:prstGeom prst="rect">
            <a:avLst/>
          </a:prstGeom>
          <a:solidFill>
            <a:srgbClr val="FFCF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09E2D16-E2F1-048F-18F2-FBFBCC36DBA4}"/>
              </a:ext>
            </a:extLst>
          </p:cNvPr>
          <p:cNvSpPr/>
          <p:nvPr/>
        </p:nvSpPr>
        <p:spPr>
          <a:xfrm>
            <a:off x="11846560" y="274320"/>
            <a:ext cx="345440" cy="894080"/>
          </a:xfrm>
          <a:prstGeom prst="rect">
            <a:avLst/>
          </a:prstGeom>
          <a:solidFill>
            <a:srgbClr val="26957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0CFA5A-B402-CF8A-8BCF-549D8F75F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827" y="149244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Co-relation with revenue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F36F38-F2FD-0176-D8CB-503E14DC335A}"/>
              </a:ext>
            </a:extLst>
          </p:cNvPr>
          <p:cNvSpPr txBox="1"/>
          <p:nvPr/>
        </p:nvSpPr>
        <p:spPr>
          <a:xfrm>
            <a:off x="452244" y="5939315"/>
            <a:ext cx="1129241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dirty="0"/>
              <a:t>Looking at above visual we can clearly see co-relation between distance driven, successful  rides and revenue generated. Adding </a:t>
            </a:r>
            <a:r>
              <a:rPr lang="en-GB"/>
              <a:t>a greater</a:t>
            </a:r>
            <a:r>
              <a:rPr lang="en-GB" dirty="0"/>
              <a:t> number of trips with more distance we can increase average revenue per user.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FCBA1C-9B78-7B56-1A11-811D7BA9ABCB}"/>
              </a:ext>
            </a:extLst>
          </p:cNvPr>
          <p:cNvSpPr txBox="1"/>
          <p:nvPr/>
        </p:nvSpPr>
        <p:spPr>
          <a:xfrm>
            <a:off x="1452292" y="5616900"/>
            <a:ext cx="394195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 dirty="0"/>
              <a:t>Revenue and distance co-relat</a:t>
            </a:r>
            <a:r>
              <a:rPr lang="en-GB" sz="1600">
                <a:solidFill>
                  <a:srgbClr val="000000"/>
                </a:solidFill>
                <a:latin typeface="Aptos"/>
              </a:rPr>
              <a:t>ion = 0.81</a:t>
            </a:r>
            <a:endParaRPr lang="en-GB" sz="1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B2CC62-C7EB-CEB1-11DF-FDBC602A858F}"/>
              </a:ext>
            </a:extLst>
          </p:cNvPr>
          <p:cNvSpPr txBox="1"/>
          <p:nvPr/>
        </p:nvSpPr>
        <p:spPr>
          <a:xfrm>
            <a:off x="6638837" y="5620419"/>
            <a:ext cx="474112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/>
              <a:t>Revenue and successful  ride co-relation = 0.88</a:t>
            </a:r>
          </a:p>
        </p:txBody>
      </p:sp>
      <p:pic>
        <p:nvPicPr>
          <p:cNvPr id="13" name="Picture 12" descr="A graph with green dots&#10;&#10;AI-generated content may be incorrect.">
            <a:extLst>
              <a:ext uri="{FF2B5EF4-FFF2-40B4-BE49-F238E27FC236}">
                <a16:creationId xmlns:a16="http://schemas.microsoft.com/office/drawing/2014/main" id="{FF475FA3-84BC-CBC2-14A1-36B479EE0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173" y="1282383"/>
            <a:ext cx="4788535" cy="4333875"/>
          </a:xfrm>
          <a:prstGeom prst="rect">
            <a:avLst/>
          </a:prstGeom>
        </p:spPr>
      </p:pic>
      <p:pic>
        <p:nvPicPr>
          <p:cNvPr id="14" name="Picture 13" descr="A diagram of a graph&#10;&#10;AI-generated content may be incorrect.">
            <a:extLst>
              <a:ext uri="{FF2B5EF4-FFF2-40B4-BE49-F238E27FC236}">
                <a16:creationId xmlns:a16="http://schemas.microsoft.com/office/drawing/2014/main" id="{0577EEDA-8AEA-A908-0B4B-1AD89947D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417" y="1281430"/>
            <a:ext cx="4749165" cy="4335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642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5E0550C-4B2B-DCC1-E1DF-4A6F7D588150}"/>
              </a:ext>
            </a:extLst>
          </p:cNvPr>
          <p:cNvSpPr/>
          <p:nvPr/>
        </p:nvSpPr>
        <p:spPr>
          <a:xfrm>
            <a:off x="-20320" y="274320"/>
            <a:ext cx="11734800" cy="894080"/>
          </a:xfrm>
          <a:prstGeom prst="rect">
            <a:avLst/>
          </a:prstGeom>
          <a:solidFill>
            <a:srgbClr val="FFCF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7DCCF9-23FE-2A51-3B77-A4DC28BD7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080" y="192405"/>
            <a:ext cx="10515600" cy="972442"/>
          </a:xfrm>
        </p:spPr>
        <p:txBody>
          <a:bodyPr/>
          <a:lstStyle/>
          <a:p>
            <a:r>
              <a:rPr lang="en-GB"/>
              <a:t>Co-relation Fare per Km and  revenue 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30D6CD-4F9E-9D60-BA0C-1741FFC4B53A}"/>
              </a:ext>
            </a:extLst>
          </p:cNvPr>
          <p:cNvSpPr txBox="1"/>
          <p:nvPr/>
        </p:nvSpPr>
        <p:spPr>
          <a:xfrm>
            <a:off x="545253" y="1943523"/>
            <a:ext cx="545592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200" dirty="0"/>
              <a:t>Co-relation for fare per </a:t>
            </a:r>
            <a:r>
              <a:rPr lang="en-GB" sz="2200"/>
              <a:t>Km and revenue = 0.24</a:t>
            </a:r>
            <a:endParaRPr lang="en-GB" sz="2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B89973-911E-9BEE-4A01-EF372DCF3CEB}"/>
              </a:ext>
            </a:extLst>
          </p:cNvPr>
          <p:cNvSpPr txBox="1"/>
          <p:nvPr/>
        </p:nvSpPr>
        <p:spPr>
          <a:xfrm>
            <a:off x="544657" y="3062281"/>
            <a:ext cx="6352289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GB" sz="2000" dirty="0"/>
              <a:t>There is </a:t>
            </a:r>
            <a:r>
              <a:rPr lang="en-IN" sz="2000"/>
              <a:t> low </a:t>
            </a:r>
            <a:r>
              <a:rPr lang="en-GB" sz="2000"/>
              <a:t>co-relation between fare per Km and revenue</a:t>
            </a:r>
            <a:r>
              <a:rPr lang="en-IN" sz="2000"/>
              <a:t>.</a:t>
            </a:r>
            <a:endParaRPr lang="en-US" sz="2000"/>
          </a:p>
          <a:p>
            <a:pPr marL="342900" indent="-342900">
              <a:buAutoNum type="arabicPeriod"/>
            </a:pPr>
            <a:r>
              <a:rPr lang="en-IN" sz="2000" dirty="0"/>
              <a:t>As customer tends to cancel because of </a:t>
            </a:r>
            <a:r>
              <a:rPr lang="en-IN" sz="2000"/>
              <a:t>soaring prices</a:t>
            </a:r>
            <a:endParaRPr lang="en-IN" sz="2000" dirty="0"/>
          </a:p>
          <a:p>
            <a:pPr marL="342900" indent="-342900">
              <a:buAutoNum type="arabicPeriod"/>
            </a:pPr>
            <a:r>
              <a:rPr lang="en-IN" sz="2000"/>
              <a:t>High Prices per Km sometimes balances low </a:t>
            </a:r>
            <a:r>
              <a:rPr lang="en-IN" sz="2000" dirty="0"/>
              <a:t>demand makes less impact on revenue.</a:t>
            </a:r>
          </a:p>
          <a:p>
            <a:endParaRPr lang="en-GB" dirty="0"/>
          </a:p>
        </p:txBody>
      </p:sp>
      <p:pic>
        <p:nvPicPr>
          <p:cNvPr id="9" name="Content Placeholder 8" descr="A graph with numbers and dots&#10;&#10;AI-generated content may be incorrect.">
            <a:extLst>
              <a:ext uri="{FF2B5EF4-FFF2-40B4-BE49-F238E27FC236}">
                <a16:creationId xmlns:a16="http://schemas.microsoft.com/office/drawing/2014/main" id="{47478BB6-79F4-D376-36FA-EC35B8AF15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55815" y="1400969"/>
            <a:ext cx="4860290" cy="47332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BCB087A-F396-7740-EC2B-2A752C7DD442}"/>
              </a:ext>
            </a:extLst>
          </p:cNvPr>
          <p:cNvSpPr/>
          <p:nvPr/>
        </p:nvSpPr>
        <p:spPr>
          <a:xfrm>
            <a:off x="11846560" y="274320"/>
            <a:ext cx="345440" cy="894080"/>
          </a:xfrm>
          <a:prstGeom prst="rect">
            <a:avLst/>
          </a:prstGeom>
          <a:solidFill>
            <a:srgbClr val="26957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2683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52422-A850-7F20-22F4-28EF793D5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136" y="1506728"/>
            <a:ext cx="3418840" cy="411175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1500"/>
              <a:t>Drop of rides in peak hours  makes loss in revenue</a:t>
            </a:r>
          </a:p>
          <a:p>
            <a:r>
              <a:rPr lang="en-GB" sz="1500"/>
              <a:t>The customer traveling in peak hours  are traveling to office, collage students, etc</a:t>
            </a:r>
          </a:p>
          <a:p>
            <a:r>
              <a:rPr lang="en-GB" sz="1500"/>
              <a:t>These customer want cab service that is  reliable, punctual  and affordable.</a:t>
            </a:r>
          </a:p>
          <a:p>
            <a:r>
              <a:rPr lang="en-GB" sz="1500"/>
              <a:t>To get this customer we must make advertisements  that highlight  our service as reliable,punctual  and affordable</a:t>
            </a:r>
          </a:p>
          <a:p>
            <a:endParaRPr lang="en-GB" sz="1500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A052D942-A174-D70A-78A7-72A233C30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1678" y="1502728"/>
            <a:ext cx="7121525" cy="399478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3146C80-FA23-9258-1DF5-84CD6F211511}"/>
              </a:ext>
            </a:extLst>
          </p:cNvPr>
          <p:cNvSpPr/>
          <p:nvPr/>
        </p:nvSpPr>
        <p:spPr>
          <a:xfrm>
            <a:off x="-20320" y="274320"/>
            <a:ext cx="11734800" cy="894080"/>
          </a:xfrm>
          <a:prstGeom prst="rect">
            <a:avLst/>
          </a:prstGeom>
          <a:solidFill>
            <a:srgbClr val="FFCF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8AFDF1A-2851-457B-C4C8-53A2851E3931}"/>
              </a:ext>
            </a:extLst>
          </p:cNvPr>
          <p:cNvSpPr txBox="1">
            <a:spLocks/>
          </p:cNvSpPr>
          <p:nvPr/>
        </p:nvSpPr>
        <p:spPr>
          <a:xfrm>
            <a:off x="-5080" y="192405"/>
            <a:ext cx="10515600" cy="9724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800" dirty="0"/>
              <a:t>Drop off </a:t>
            </a:r>
            <a:r>
              <a:rPr lang="en-GB" sz="3800"/>
              <a:t>revenue in</a:t>
            </a:r>
            <a:r>
              <a:rPr lang="en-GB" sz="3800" dirty="0"/>
              <a:t> peak hours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831359-E19E-2E74-6D2A-B6F9D27720BD}"/>
              </a:ext>
            </a:extLst>
          </p:cNvPr>
          <p:cNvSpPr/>
          <p:nvPr/>
        </p:nvSpPr>
        <p:spPr>
          <a:xfrm>
            <a:off x="11846560" y="274320"/>
            <a:ext cx="345440" cy="894080"/>
          </a:xfrm>
          <a:prstGeom prst="rect">
            <a:avLst/>
          </a:prstGeom>
          <a:solidFill>
            <a:srgbClr val="26957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6198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17CE1-39CF-DAEF-95A7-04DED60AB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621" y="1451429"/>
            <a:ext cx="4977938" cy="4787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sz="1700"/>
              <a:t>As customer starts using our service . His payment method shift from upi and cash to debit and credit cards.</a:t>
            </a:r>
          </a:p>
          <a:p>
            <a:r>
              <a:rPr lang="en-IN" sz="1700"/>
              <a:t>This is because customer might trust us with cards and it will be easier to pay with card .</a:t>
            </a:r>
          </a:p>
          <a:p>
            <a:r>
              <a:rPr lang="en-IN" sz="1700"/>
              <a:t>We can use this as an indicator to know that customer will be using service for long time.</a:t>
            </a:r>
          </a:p>
          <a:p>
            <a:r>
              <a:rPr lang="en-IN" sz="1700"/>
              <a:t>To promote card use we can tie up with bank and give special offer to customer that uses card. This might reduce our churn rate.</a:t>
            </a:r>
          </a:p>
          <a:p>
            <a:pPr marL="0" indent="0">
              <a:buNone/>
            </a:pPr>
            <a:endParaRPr lang="en-IN" sz="1700"/>
          </a:p>
          <a:p>
            <a:endParaRPr lang="en-GB" sz="1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5B4A16-91CD-D64E-F718-69D54E586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7852" y="2022520"/>
            <a:ext cx="5810677" cy="312387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712FB6D-E6E4-B870-BBA1-B2C23AF0AA95}"/>
              </a:ext>
            </a:extLst>
          </p:cNvPr>
          <p:cNvSpPr/>
          <p:nvPr/>
        </p:nvSpPr>
        <p:spPr>
          <a:xfrm>
            <a:off x="-20320" y="274320"/>
            <a:ext cx="11734800" cy="894080"/>
          </a:xfrm>
          <a:prstGeom prst="rect">
            <a:avLst/>
          </a:prstGeom>
          <a:solidFill>
            <a:srgbClr val="FFCF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F98A3AF-88EC-C12A-8108-3F0BF84C70FF}"/>
              </a:ext>
            </a:extLst>
          </p:cNvPr>
          <p:cNvSpPr txBox="1">
            <a:spLocks/>
          </p:cNvSpPr>
          <p:nvPr/>
        </p:nvSpPr>
        <p:spPr>
          <a:xfrm>
            <a:off x="177800" y="192405"/>
            <a:ext cx="10515600" cy="9724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/>
              <a:t>Payment Method</a:t>
            </a:r>
            <a:endParaRPr lang="en-GB" sz="4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DC178B-11E7-D912-E3DC-6181E0C2DF67}"/>
              </a:ext>
            </a:extLst>
          </p:cNvPr>
          <p:cNvSpPr/>
          <p:nvPr/>
        </p:nvSpPr>
        <p:spPr>
          <a:xfrm>
            <a:off x="11846560" y="274320"/>
            <a:ext cx="345440" cy="894080"/>
          </a:xfrm>
          <a:prstGeom prst="rect">
            <a:avLst/>
          </a:prstGeom>
          <a:solidFill>
            <a:srgbClr val="26957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9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Namma Yatri</vt:lpstr>
      <vt:lpstr>PowerPoint Presentation</vt:lpstr>
      <vt:lpstr>Market Overview</vt:lpstr>
      <vt:lpstr>Key analysis on Namma Yatri dataset  </vt:lpstr>
      <vt:lpstr>Conversation Rate</vt:lpstr>
      <vt:lpstr>Low conversion rate zones</vt:lpstr>
      <vt:lpstr>Co-relation with revenue</vt:lpstr>
      <vt:lpstr>Co-relation Fare per Km and  revenue 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</dc:title>
  <dc:creator/>
  <cp:lastModifiedBy>ambar chaudhari</cp:lastModifiedBy>
  <cp:revision>859</cp:revision>
  <dcterms:created xsi:type="dcterms:W3CDTF">2026-04-20T03:14:57Z</dcterms:created>
  <dcterms:modified xsi:type="dcterms:W3CDTF">2026-04-21T16:12:49Z</dcterms:modified>
</cp:coreProperties>
</file>